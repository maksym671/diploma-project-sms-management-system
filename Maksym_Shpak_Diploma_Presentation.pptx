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www.vizja.pl" TargetMode="External"/><Relationship Id="rId4" Type="http://schemas.openxmlformats.org/officeDocument/2006/relationships/hyperlink" Target="https://thesms.me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hyperlink" Target="https://www.vizja.pl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hyperlink" Target="https://www.vizja.pl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hyperlink" Target="https://www.vizja.pl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hyperlink" Target="https://www.vizja.pl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hyperlink" Target="https://www.vizja.pl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hyperlink" Target="https://www.vizja.pl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hyperlink" Target="https://www.vizja.pl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hyperlink" Target="https://www.vizja.pl" TargetMode="External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hyperlink" Target="https://www.vizja.pl" TargetMode="External"/><Relationship Id="rId4" Type="http://schemas.openxmlformats.org/officeDocument/2006/relationships/hyperlink" Target="https://thesms.me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thesms.me" TargetMode="External"/><Relationship Id="rId3" Type="http://schemas.openxmlformats.org/officeDocument/2006/relationships/image" Target="../media/image1.png"/><Relationship Id="rId4" Type="http://schemas.openxmlformats.org/officeDocument/2006/relationships/hyperlink" Target="https://www.vizja.pl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818120" y="-1005840"/>
            <a:ext cx="6035040" cy="6035040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464040" y="3200400"/>
            <a:ext cx="4023360" cy="4023360"/>
          </a:xfrm>
          <a:prstGeom prst="roundRect">
            <a:avLst>
              <a:gd name="adj" fmla="val 50000"/>
            </a:avLst>
          </a:prstGeom>
          <a:solidFill>
            <a:srgbClr val="1822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66928" y="1298448"/>
            <a:ext cx="100584" cy="82296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5" name="Picture 4" descr="vizja_logo_dark_vertical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58200" y="1572768"/>
            <a:ext cx="3246120" cy="145448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9536" y="1316736"/>
            <a:ext cx="7315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 spc="140">
                <a:solidFill>
                  <a:srgbClr val="B4C0D0"/>
                </a:solidFill>
                <a:latin typeface="Calibri"/>
              </a:rPr>
              <a:t>UNIWERSYTET VIZJA  ·  SCHOOL OF COMPUTER SCIENCE &amp; TECHNOLOGIES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9536" y="1700784"/>
            <a:ext cx="7498079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300" b="0" i="0">
                <a:solidFill>
                  <a:srgbClr val="FFFFFF"/>
                </a:solidFill>
                <a:latin typeface="Calibri"/>
              </a:rPr>
              <a:t>Design and Implementation of a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300" b="1" i="0">
                <a:solidFill>
                  <a:srgbClr val="FFFFFF"/>
                </a:solidFill>
                <a:latin typeface="Calibri"/>
              </a:rPr>
              <a:t>Web-Based Student Management System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300" b="0" i="0">
                <a:solidFill>
                  <a:srgbClr val="FFFFFF"/>
                </a:solidFill>
                <a:latin typeface="Calibri"/>
              </a:rPr>
              <a:t>for Educational Institutions</a:t>
            </a:r>
          </a:p>
        </p:txBody>
      </p:sp>
      <p:sp>
        <p:nvSpPr>
          <p:cNvPr id="8" name="Rounded Rectangle 7">
            <a:hlinkClick r:id="rId4"/>
          </p:cNvPr>
          <p:cNvSpPr/>
          <p:nvPr/>
        </p:nvSpPr>
        <p:spPr>
          <a:xfrm>
            <a:off x="859536" y="3785615"/>
            <a:ext cx="5806440" cy="402336"/>
          </a:xfrm>
          <a:prstGeom prst="roundRect">
            <a:avLst>
              <a:gd name="adj" fmla="val 4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2416" y="3840480"/>
            <a:ext cx="55321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 spc="140">
                <a:solidFill>
                  <a:srgbClr val="FFFFFF"/>
                </a:solidFill>
                <a:latin typeface="Calibri"/>
              </a:rPr>
              <a:t>LIVE   </a:t>
            </a:r>
            <a:r>
              <a:rPr sz="1150" b="1" i="0" u="none">
                <a:solidFill>
                  <a:srgbClr val="FFFFFF"/>
                </a:solidFill>
                <a:latin typeface="Calibri"/>
                <a:hlinkClick r:id="rId4"/>
              </a:rPr>
              <a:t>https://thesms.me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4956048"/>
            <a:ext cx="7223760" cy="10972"/>
          </a:xfrm>
          <a:prstGeom prst="rect">
            <a:avLst/>
          </a:prstGeom>
          <a:solidFill>
            <a:srgbClr val="2C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5175504"/>
            <a:ext cx="22860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950" b="1" i="0" spc="120">
                <a:solidFill>
                  <a:srgbClr val="2563EB"/>
                </a:solidFill>
                <a:latin typeface="Calibri"/>
              </a:rPr>
              <a:t>STUDENT</a:t>
            </a:r>
          </a:p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Maksym Shpak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8C9AAF"/>
                </a:solidFill>
                <a:latin typeface="Calibri"/>
              </a:rPr>
              <a:t>Index: 45567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99232" y="5175504"/>
            <a:ext cx="22860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950" b="1" i="0" spc="120">
                <a:solidFill>
                  <a:srgbClr val="2563EB"/>
                </a:solidFill>
                <a:latin typeface="Calibri"/>
              </a:rPr>
              <a:t>SUPERVISOR</a:t>
            </a:r>
          </a:p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Marcin Kacprowicz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8C9AAF"/>
                </a:solidFill>
                <a:latin typeface="Calibri"/>
              </a:rPr>
              <a:t>Diploma seminar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31536" y="5175504"/>
            <a:ext cx="22860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950" b="1" i="0" spc="120">
                <a:solidFill>
                  <a:srgbClr val="2563EB"/>
                </a:solidFill>
                <a:latin typeface="Calibri"/>
              </a:rPr>
              <a:t>FIELD OF STUDY</a:t>
            </a:r>
          </a:p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Computer Science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8C9AAF"/>
                </a:solidFill>
                <a:latin typeface="Calibri"/>
              </a:rPr>
              <a:t>Engineering degree ·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30481" y="6345936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 spc="60" u="none">
                <a:solidFill>
                  <a:srgbClr val="B4C0D0"/>
                </a:solidFill>
                <a:latin typeface="Calibri"/>
                <a:hlinkClick r:id="rId3"/>
              </a:rPr>
              <a:t>www.vizja.pl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566928"/>
            <a:ext cx="100584" cy="420624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7" y="50292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 spc="140">
                <a:solidFill>
                  <a:srgbClr val="2563EB"/>
                </a:solidFill>
                <a:latin typeface="Calibri"/>
              </a:rPr>
              <a:t>WHAT THIS DEFENCE COVERS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7" y="758952"/>
            <a:ext cx="8778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0F172A"/>
                </a:solidFill>
                <a:latin typeface="Calibri"/>
              </a:rPr>
              <a:t>Presentation Agenda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96241" y="54864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50" b="0" i="0" spc="80">
                <a:solidFill>
                  <a:srgbClr val="8C9AAF"/>
                </a:solidFill>
                <a:latin typeface="Calibri"/>
              </a:rPr>
              <a:t>2 / 11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6199632"/>
            <a:ext cx="11058113" cy="10972"/>
          </a:xfrm>
          <a:prstGeom prst="rect">
            <a:avLst/>
          </a:prstGeom>
          <a:solidFill>
            <a:srgbClr val="E3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7" name="Picture 6" descr="vizja_logo_light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6327648"/>
            <a:ext cx="1298448" cy="26901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430481" y="6345936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 spc="60" u="none">
                <a:solidFill>
                  <a:srgbClr val="8C9AAF"/>
                </a:solidFill>
                <a:latin typeface="Calibri"/>
                <a:hlinkClick r:id="rId3"/>
              </a:rPr>
              <a:t>www.vizja.pl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591056"/>
            <a:ext cx="47548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B4C0D0"/>
                </a:solidFill>
                <a:latin typeface="Calibri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" y="1554480"/>
            <a:ext cx="4779248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0F172A"/>
                </a:solidFill>
                <a:latin typeface="Calibri"/>
              </a:rPr>
              <a:t>Problem Statement &amp; Purpose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Calibri"/>
              </a:rPr>
              <a:t>Spreadsheets, paper registers, no audit trail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505456"/>
            <a:ext cx="5346176" cy="7315"/>
          </a:xfrm>
          <a:prstGeom prst="rect">
            <a:avLst/>
          </a:prstGeom>
          <a:solidFill>
            <a:srgbClr val="E3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2706624"/>
            <a:ext cx="47548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B4C0D0"/>
                </a:solidFill>
                <a:latin typeface="Calibr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" y="2670048"/>
            <a:ext cx="4779248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0F172A"/>
                </a:solidFill>
                <a:latin typeface="Calibri"/>
              </a:rPr>
              <a:t>Comparative Analysis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Calibri"/>
              </a:rPr>
              <a:t>Moodle, USOS, Google Classroom — and the gap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3621024"/>
            <a:ext cx="5346176" cy="7315"/>
          </a:xfrm>
          <a:prstGeom prst="rect">
            <a:avLst/>
          </a:prstGeom>
          <a:solidFill>
            <a:srgbClr val="E3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3822192"/>
            <a:ext cx="47548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B4C0D0"/>
                </a:solidFill>
                <a:latin typeface="Calibri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" y="3785616"/>
            <a:ext cx="4779248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0F172A"/>
                </a:solidFill>
                <a:latin typeface="Calibri"/>
              </a:rPr>
              <a:t>Technology Stack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Calibri"/>
              </a:rPr>
              <a:t>Django 6, Python 3.12, PostgreSQL 16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4736592"/>
            <a:ext cx="5346176" cy="7315"/>
          </a:xfrm>
          <a:prstGeom prst="rect">
            <a:avLst/>
          </a:prstGeom>
          <a:solidFill>
            <a:srgbClr val="E3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6928" y="4937760"/>
            <a:ext cx="47548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B4C0D0"/>
                </a:solidFill>
                <a:latin typeface="Calibri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3856" y="4901184"/>
            <a:ext cx="4779248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0F172A"/>
                </a:solidFill>
                <a:latin typeface="Calibri"/>
              </a:rPr>
              <a:t>System Architecture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Calibri"/>
              </a:rPr>
              <a:t>Browser › Render TLS › Gunicorn › PostgreSQL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78864" y="1591056"/>
            <a:ext cx="47548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B4C0D0"/>
                </a:solidFill>
                <a:latin typeface="Calibri"/>
              </a:rPr>
              <a:t>05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45792" y="1554480"/>
            <a:ext cx="4779248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0F172A"/>
                </a:solidFill>
                <a:latin typeface="Calibri"/>
              </a:rPr>
              <a:t>Database Design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Calibri"/>
              </a:rPr>
              <a:t>6 models, 6 migrations, constraints in the schema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78864" y="2505456"/>
            <a:ext cx="5346176" cy="7315"/>
          </a:xfrm>
          <a:prstGeom prst="rect">
            <a:avLst/>
          </a:prstGeom>
          <a:solidFill>
            <a:srgbClr val="E3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78864" y="2706624"/>
            <a:ext cx="47548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B4C0D0"/>
                </a:solidFill>
                <a:latin typeface="Calibri"/>
              </a:rPr>
              <a:t>06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45792" y="2670048"/>
            <a:ext cx="4779248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0F172A"/>
                </a:solidFill>
                <a:latin typeface="Calibri"/>
              </a:rPr>
              <a:t>Key Features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Calibri"/>
              </a:rPr>
              <a:t>Weighted grades, RBAC, EN/PL, 96 tests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78864" y="3621024"/>
            <a:ext cx="5346176" cy="7315"/>
          </a:xfrm>
          <a:prstGeom prst="rect">
            <a:avLst/>
          </a:prstGeom>
          <a:solidFill>
            <a:srgbClr val="E3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78864" y="3822192"/>
            <a:ext cx="47548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B4C0D0"/>
                </a:solidFill>
                <a:latin typeface="Calibri"/>
              </a:rPr>
              <a:t>07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45792" y="3785616"/>
            <a:ext cx="4779248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0F172A"/>
                </a:solidFill>
                <a:latin typeface="Calibri"/>
              </a:rPr>
              <a:t>Application Screenshots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Calibri"/>
              </a:rPr>
              <a:t>Dashboard, student records, mobile layout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78864" y="4736592"/>
            <a:ext cx="5346176" cy="7315"/>
          </a:xfrm>
          <a:prstGeom prst="rect">
            <a:avLst/>
          </a:prstGeom>
          <a:solidFill>
            <a:srgbClr val="E3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78864" y="4937760"/>
            <a:ext cx="47548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B4C0D0"/>
                </a:solidFill>
                <a:latin typeface="Calibri"/>
              </a:rPr>
              <a:t>08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45792" y="4901184"/>
            <a:ext cx="4779248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0F172A"/>
                </a:solidFill>
                <a:latin typeface="Calibri"/>
              </a:rPr>
              <a:t>Deployment &amp; Results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Calibri"/>
              </a:rPr>
              <a:t>Live on Render + Neon, then what comes next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566928"/>
            <a:ext cx="100584" cy="420624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7" y="50292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 spc="140">
                <a:solidFill>
                  <a:srgbClr val="2563EB"/>
                </a:solidFill>
                <a:latin typeface="Calibri"/>
              </a:rPr>
              <a:t>WHY THIS 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7" y="758952"/>
            <a:ext cx="8778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0F172A"/>
                </a:solidFill>
                <a:latin typeface="Calibri"/>
              </a:rPr>
              <a:t>Problem Statement &amp; Purpose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96241" y="54864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50" b="0" i="0" spc="80">
                <a:solidFill>
                  <a:srgbClr val="8C9AAF"/>
                </a:solidFill>
                <a:latin typeface="Calibri"/>
              </a:rPr>
              <a:t>3 / 11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6199632"/>
            <a:ext cx="11058113" cy="10972"/>
          </a:xfrm>
          <a:prstGeom prst="rect">
            <a:avLst/>
          </a:prstGeom>
          <a:solidFill>
            <a:srgbClr val="E3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7" name="Picture 6" descr="vizja_logo_light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6327648"/>
            <a:ext cx="1298448" cy="26901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430481" y="6345936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 spc="60" u="none">
                <a:solidFill>
                  <a:srgbClr val="8C9AAF"/>
                </a:solidFill>
                <a:latin typeface="Calibri"/>
                <a:hlinkClick r:id="rId3"/>
              </a:rPr>
              <a:t>www.vizja.pl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481328"/>
            <a:ext cx="3551925" cy="10241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66928" y="1682496"/>
            <a:ext cx="50292" cy="621792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7" y="1664208"/>
            <a:ext cx="3094725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 i="0">
                <a:solidFill>
                  <a:srgbClr val="2563EB"/>
                </a:solidFill>
                <a:latin typeface="Calibri"/>
              </a:rPr>
              <a:t>3 places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475569"/>
                </a:solidFill>
                <a:latin typeface="Calibri"/>
              </a:rPr>
              <a:t>spreadsheet, paper register
and email thread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20021" y="1481328"/>
            <a:ext cx="3551925" cy="10241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320021" y="1682496"/>
            <a:ext cx="50292" cy="621792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94341" y="1664208"/>
            <a:ext cx="3094725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 i="0">
                <a:solidFill>
                  <a:srgbClr val="D97706"/>
                </a:solidFill>
                <a:latin typeface="Calibri"/>
              </a:rPr>
              <a:t>0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475569"/>
                </a:solidFill>
                <a:latin typeface="Calibri"/>
              </a:rPr>
              <a:t>audit trail of who entered
or edited a grade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73115" y="1481328"/>
            <a:ext cx="3551925" cy="10241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73115" y="1682496"/>
            <a:ext cx="50292" cy="621792"/>
          </a:xfrm>
          <a:prstGeom prst="roundRect">
            <a:avLst>
              <a:gd name="adj" fmla="val 50000"/>
            </a:avLst>
          </a:prstGeom>
          <a:solidFill>
            <a:srgbClr val="DB27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47435" y="1664208"/>
            <a:ext cx="3094725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 i="0">
                <a:solidFill>
                  <a:srgbClr val="DB2777"/>
                </a:solidFill>
                <a:latin typeface="Calibri"/>
              </a:rPr>
              <a:t>by hand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475569"/>
                </a:solidFill>
                <a:latin typeface="Calibri"/>
              </a:rPr>
              <a:t>every average and every
attendance total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2706624"/>
            <a:ext cx="5401040" cy="29992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66928" y="2706624"/>
            <a:ext cx="5401040" cy="50292"/>
          </a:xfrm>
          <a:prstGeom prst="roundRect">
            <a:avLst>
              <a:gd name="adj" fmla="val 50000"/>
            </a:avLst>
          </a:prstGeom>
          <a:solidFill>
            <a:srgbClr val="DB27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2980944"/>
            <a:ext cx="49438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 spc="120">
                <a:solidFill>
                  <a:srgbClr val="DB2777"/>
                </a:solidFill>
                <a:latin typeface="Calibri"/>
              </a:rPr>
              <a:t>THE PROBLEM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3310128"/>
            <a:ext cx="4888976" cy="4206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760"/>
              </a:spcAft>
            </a:pPr>
            <a:r>
              <a:rPr sz="1220" b="1" i="0">
                <a:solidFill>
                  <a:srgbClr val="B4C0D0"/>
                </a:solidFill>
                <a:latin typeface="Calibri"/>
              </a:rPr>
              <a:t>—  </a:t>
            </a:r>
            <a:r>
              <a:rPr sz="1220" b="1" i="0">
                <a:solidFill>
                  <a:srgbClr val="0F172A"/>
                </a:solidFill>
                <a:latin typeface="Calibri"/>
              </a:rPr>
              <a:t>Fragmented records — </a:t>
            </a:r>
            <a:r>
              <a:rPr sz="1220" b="0" i="0">
                <a:solidFill>
                  <a:srgbClr val="475569"/>
                </a:solidFill>
                <a:latin typeface="Calibri"/>
              </a:rPr>
              <a:t>spreadsheets, paper registers, email threads</a:t>
            </a:r>
          </a:p>
          <a:p>
            <a:pPr algn="l">
              <a:lnSpc>
                <a:spcPct val="116000"/>
              </a:lnSpc>
              <a:spcAft>
                <a:spcPts val="760"/>
              </a:spcAft>
            </a:pPr>
            <a:r>
              <a:rPr sz="1220" b="1" i="0">
                <a:solidFill>
                  <a:srgbClr val="B4C0D0"/>
                </a:solidFill>
                <a:latin typeface="Calibri"/>
              </a:rPr>
              <a:t>—  </a:t>
            </a:r>
            <a:r>
              <a:rPr sz="1220" b="1" i="0">
                <a:solidFill>
                  <a:srgbClr val="0F172A"/>
                </a:solidFill>
                <a:latin typeface="Calibri"/>
              </a:rPr>
              <a:t>No single view — </a:t>
            </a:r>
            <a:r>
              <a:rPr sz="1220" b="0" i="0">
                <a:solidFill>
                  <a:srgbClr val="475569"/>
                </a:solidFill>
                <a:latin typeface="Calibri"/>
              </a:rPr>
              <a:t>grades and attendance never meet in one place</a:t>
            </a:r>
          </a:p>
          <a:p>
            <a:pPr algn="l">
              <a:lnSpc>
                <a:spcPct val="116000"/>
              </a:lnSpc>
              <a:spcAft>
                <a:spcPts val="760"/>
              </a:spcAft>
            </a:pPr>
            <a:r>
              <a:rPr sz="1220" b="1" i="0">
                <a:solidFill>
                  <a:srgbClr val="B4C0D0"/>
                </a:solidFill>
                <a:latin typeface="Calibri"/>
              </a:rPr>
              <a:t>—  </a:t>
            </a:r>
            <a:r>
              <a:rPr sz="1220" b="1" i="0">
                <a:solidFill>
                  <a:srgbClr val="0F172A"/>
                </a:solidFill>
                <a:latin typeface="Calibri"/>
              </a:rPr>
              <a:t>Manual arithmetic — </a:t>
            </a:r>
            <a:r>
              <a:rPr sz="1220" b="0" i="0">
                <a:solidFill>
                  <a:srgbClr val="475569"/>
                </a:solidFill>
                <a:latin typeface="Calibri"/>
              </a:rPr>
              <a:t>averages recalculated by hand, errors slip through</a:t>
            </a:r>
          </a:p>
          <a:p>
            <a:pPr algn="l">
              <a:lnSpc>
                <a:spcPct val="116000"/>
              </a:lnSpc>
              <a:spcAft>
                <a:spcPts val="760"/>
              </a:spcAft>
            </a:pPr>
            <a:r>
              <a:rPr sz="1220" b="1" i="0">
                <a:solidFill>
                  <a:srgbClr val="B4C0D0"/>
                </a:solidFill>
                <a:latin typeface="Calibri"/>
              </a:rPr>
              <a:t>—  </a:t>
            </a:r>
            <a:r>
              <a:rPr sz="1220" b="1" i="0">
                <a:solidFill>
                  <a:srgbClr val="0F172A"/>
                </a:solidFill>
                <a:latin typeface="Calibri"/>
              </a:rPr>
              <a:t>No accountability — </a:t>
            </a:r>
            <a:r>
              <a:rPr sz="1220" b="0" i="0">
                <a:solidFill>
                  <a:srgbClr val="475569"/>
                </a:solidFill>
                <a:latin typeface="Calibri"/>
              </a:rPr>
              <a:t>nobody can prove who recorded a mark</a:t>
            </a:r>
          </a:p>
          <a:p>
            <a:pPr algn="l">
              <a:lnSpc>
                <a:spcPct val="116000"/>
              </a:lnSpc>
              <a:spcAft>
                <a:spcPts val="760"/>
              </a:spcAft>
            </a:pPr>
            <a:r>
              <a:rPr sz="1220" b="1" i="0">
                <a:solidFill>
                  <a:srgbClr val="B4C0D0"/>
                </a:solidFill>
                <a:latin typeface="Calibri"/>
              </a:rPr>
              <a:t>—  </a:t>
            </a:r>
            <a:r>
              <a:rPr sz="1220" b="1" i="0">
                <a:solidFill>
                  <a:srgbClr val="0F172A"/>
                </a:solidFill>
                <a:latin typeface="Calibri"/>
              </a:rPr>
              <a:t>No confidentiality — </a:t>
            </a:r>
            <a:r>
              <a:rPr sz="1220" b="0" i="0">
                <a:solidFill>
                  <a:srgbClr val="475569"/>
                </a:solidFill>
                <a:latin typeface="Calibri"/>
              </a:rPr>
              <a:t>every teacher can see every student</a:t>
            </a:r>
          </a:p>
          <a:p>
            <a:pPr algn="l">
              <a:lnSpc>
                <a:spcPct val="116000"/>
              </a:lnSpc>
              <a:spcAft>
                <a:spcPts val="760"/>
              </a:spcAft>
            </a:pPr>
            <a:r>
              <a:rPr sz="1220" b="1" i="0">
                <a:solidFill>
                  <a:srgbClr val="B4C0D0"/>
                </a:solidFill>
                <a:latin typeface="Calibri"/>
              </a:rPr>
              <a:t>—  </a:t>
            </a:r>
            <a:r>
              <a:rPr sz="1220" b="1" i="0">
                <a:solidFill>
                  <a:srgbClr val="0F172A"/>
                </a:solidFill>
                <a:latin typeface="Calibri"/>
              </a:rPr>
              <a:t>No Polish interface — </a:t>
            </a:r>
            <a:r>
              <a:rPr sz="1220" b="0" i="0">
                <a:solidFill>
                  <a:srgbClr val="475569"/>
                </a:solidFill>
                <a:latin typeface="Calibri"/>
              </a:rPr>
              <a:t>staff work in English-only tools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24000" y="2706624"/>
            <a:ext cx="5401040" cy="29992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224000" y="2706624"/>
            <a:ext cx="5401040" cy="50292"/>
          </a:xfrm>
          <a:prstGeom prst="roundRect">
            <a:avLst>
              <a:gd name="adj" fmla="val 50000"/>
            </a:avLst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80032" y="2980944"/>
            <a:ext cx="49438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 spc="120">
                <a:solidFill>
                  <a:srgbClr val="16A34A"/>
                </a:solidFill>
                <a:latin typeface="Calibri"/>
              </a:rPr>
              <a:t>THE PURPOSE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80032" y="3310128"/>
            <a:ext cx="4888976" cy="4206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760"/>
              </a:spcAft>
            </a:pPr>
            <a:r>
              <a:rPr sz="1220" b="1" i="0">
                <a:solidFill>
                  <a:srgbClr val="B4C0D0"/>
                </a:solidFill>
                <a:latin typeface="Calibri"/>
              </a:rPr>
              <a:t>—  </a:t>
            </a:r>
            <a:r>
              <a:rPr sz="1220" b="1" i="0">
                <a:solidFill>
                  <a:srgbClr val="0F172A"/>
                </a:solidFill>
                <a:latin typeface="Calibri"/>
              </a:rPr>
              <a:t>One source of truth — </a:t>
            </a:r>
            <a:r>
              <a:rPr sz="1220" b="0" i="0">
                <a:solidFill>
                  <a:srgbClr val="475569"/>
                </a:solidFill>
                <a:latin typeface="Calibri"/>
              </a:rPr>
              <a:t>a relational schema with enforced constraints</a:t>
            </a:r>
          </a:p>
          <a:p>
            <a:pPr algn="l">
              <a:lnSpc>
                <a:spcPct val="116000"/>
              </a:lnSpc>
              <a:spcAft>
                <a:spcPts val="760"/>
              </a:spcAft>
            </a:pPr>
            <a:r>
              <a:rPr sz="1220" b="1" i="0">
                <a:solidFill>
                  <a:srgbClr val="B4C0D0"/>
                </a:solidFill>
                <a:latin typeface="Calibri"/>
              </a:rPr>
              <a:t>—  </a:t>
            </a:r>
            <a:r>
              <a:rPr sz="1220" b="1" i="0">
                <a:solidFill>
                  <a:srgbClr val="0F172A"/>
                </a:solidFill>
                <a:latin typeface="Calibri"/>
              </a:rPr>
              <a:t>Instant analytics — </a:t>
            </a:r>
            <a:r>
              <a:rPr sz="1220" b="0" i="0">
                <a:solidFill>
                  <a:srgbClr val="475569"/>
                </a:solidFill>
                <a:latin typeface="Calibri"/>
              </a:rPr>
              <a:t>KPI tiles and three charts from ORM aggregation</a:t>
            </a:r>
          </a:p>
          <a:p>
            <a:pPr algn="l">
              <a:lnSpc>
                <a:spcPct val="116000"/>
              </a:lnSpc>
              <a:spcAft>
                <a:spcPts val="760"/>
              </a:spcAft>
            </a:pPr>
            <a:r>
              <a:rPr sz="1220" b="1" i="0">
                <a:solidFill>
                  <a:srgbClr val="B4C0D0"/>
                </a:solidFill>
                <a:latin typeface="Calibri"/>
              </a:rPr>
              <a:t>—  </a:t>
            </a:r>
            <a:r>
              <a:rPr sz="1220" b="1" i="0">
                <a:solidFill>
                  <a:srgbClr val="0F172A"/>
                </a:solidFill>
                <a:latin typeface="Calibri"/>
              </a:rPr>
              <a:t>Automatic authorship — </a:t>
            </a:r>
            <a:r>
              <a:rPr sz="1220" b="0" i="0">
                <a:solidFill>
                  <a:srgbClr val="475569"/>
                </a:solidFill>
                <a:latin typeface="Calibri"/>
              </a:rPr>
              <a:t>every grade stores who assigned it</a:t>
            </a:r>
          </a:p>
          <a:p>
            <a:pPr algn="l">
              <a:lnSpc>
                <a:spcPct val="116000"/>
              </a:lnSpc>
              <a:spcAft>
                <a:spcPts val="760"/>
              </a:spcAft>
            </a:pPr>
            <a:r>
              <a:rPr sz="1220" b="1" i="0">
                <a:solidFill>
                  <a:srgbClr val="B4C0D0"/>
                </a:solidFill>
                <a:latin typeface="Calibri"/>
              </a:rPr>
              <a:t>—  </a:t>
            </a:r>
            <a:r>
              <a:rPr sz="1220" b="1" i="0">
                <a:solidFill>
                  <a:srgbClr val="0F172A"/>
                </a:solidFill>
                <a:latin typeface="Calibri"/>
              </a:rPr>
              <a:t>Scoped visibility — </a:t>
            </a:r>
            <a:r>
              <a:rPr sz="1220" b="0" i="0">
                <a:solidFill>
                  <a:srgbClr val="475569"/>
                </a:solidFill>
                <a:latin typeface="Calibri"/>
              </a:rPr>
              <a:t>teachers see their own courses, admins see all</a:t>
            </a:r>
          </a:p>
          <a:p>
            <a:pPr algn="l">
              <a:lnSpc>
                <a:spcPct val="116000"/>
              </a:lnSpc>
              <a:spcAft>
                <a:spcPts val="760"/>
              </a:spcAft>
            </a:pPr>
            <a:r>
              <a:rPr sz="1220" b="1" i="0">
                <a:solidFill>
                  <a:srgbClr val="B4C0D0"/>
                </a:solidFill>
                <a:latin typeface="Calibri"/>
              </a:rPr>
              <a:t>—  </a:t>
            </a:r>
            <a:r>
              <a:rPr sz="1220" b="1" i="0">
                <a:solidFill>
                  <a:srgbClr val="0F172A"/>
                </a:solidFill>
                <a:latin typeface="Calibri"/>
              </a:rPr>
              <a:t>Bilingual by design — </a:t>
            </a:r>
            <a:r>
              <a:rPr sz="1220" b="0" i="0">
                <a:solidFill>
                  <a:srgbClr val="475569"/>
                </a:solidFill>
                <a:latin typeface="Calibri"/>
              </a:rPr>
              <a:t>the whole interface switches EN ⇄ PL</a:t>
            </a:r>
          </a:p>
          <a:p>
            <a:pPr algn="l">
              <a:lnSpc>
                <a:spcPct val="116000"/>
              </a:lnSpc>
              <a:spcAft>
                <a:spcPts val="760"/>
              </a:spcAft>
            </a:pPr>
            <a:r>
              <a:rPr sz="1220" b="1" i="0">
                <a:solidFill>
                  <a:srgbClr val="B4C0D0"/>
                </a:solidFill>
                <a:latin typeface="Calibri"/>
              </a:rPr>
              <a:t>—  </a:t>
            </a:r>
            <a:r>
              <a:rPr sz="1220" b="1" i="0">
                <a:solidFill>
                  <a:srgbClr val="0F172A"/>
                </a:solidFill>
                <a:latin typeface="Calibri"/>
              </a:rPr>
              <a:t>Deployable — </a:t>
            </a:r>
            <a:r>
              <a:rPr sz="1220" b="0" i="0">
                <a:solidFill>
                  <a:srgbClr val="475569"/>
                </a:solidFill>
                <a:latin typeface="Calibri"/>
              </a:rPr>
              <a:t>one build script, HTTPS, managed PostgreSQL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" y="5449824"/>
            <a:ext cx="11058113" cy="566928"/>
          </a:xfrm>
          <a:prstGeom prst="roundRect">
            <a:avLst>
              <a:gd name="adj" fmla="val 9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77824" y="5504688"/>
            <a:ext cx="10436321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Result: </a:t>
            </a:r>
            <a:r>
              <a:rPr sz="1250" b="0" i="0">
                <a:solidFill>
                  <a:srgbClr val="D6DFEC"/>
                </a:solidFill>
                <a:latin typeface="Calibri"/>
              </a:rPr>
              <a:t>one auditable, role-aware platform now managing 25 students, 8 courses, 87 enrollment records — 51 of them active — and 87 grades in production.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566928"/>
            <a:ext cx="100584" cy="420624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7" y="50292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 spc="140">
                <a:solidFill>
                  <a:srgbClr val="2563EB"/>
                </a:solidFill>
                <a:latin typeface="Calibri"/>
              </a:rPr>
              <a:t>EXISTING PLATFORMS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7" y="758952"/>
            <a:ext cx="8778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0F172A"/>
                </a:solidFill>
                <a:latin typeface="Calibri"/>
              </a:rPr>
              <a:t>Comparative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96241" y="54864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50" b="0" i="0" spc="80">
                <a:solidFill>
                  <a:srgbClr val="8C9AAF"/>
                </a:solidFill>
                <a:latin typeface="Calibri"/>
              </a:rPr>
              <a:t>4 / 11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6199632"/>
            <a:ext cx="11058113" cy="10972"/>
          </a:xfrm>
          <a:prstGeom prst="rect">
            <a:avLst/>
          </a:prstGeom>
          <a:solidFill>
            <a:srgbClr val="E3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7" name="Picture 6" descr="vizja_logo_light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6327648"/>
            <a:ext cx="1298448" cy="26901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430481" y="6345936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 spc="60" u="none">
                <a:solidFill>
                  <a:srgbClr val="8C9AAF"/>
                </a:solidFill>
                <a:latin typeface="Calibri"/>
                <a:hlinkClick r:id="rId3"/>
              </a:rPr>
              <a:t>www.vizja.pl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66928" y="1426464"/>
          <a:ext cx="11055095" cy="3963924"/>
        </p:xfrm>
        <a:graphic>
          <a:graphicData uri="http://schemas.openxmlformats.org/drawingml/2006/table">
            <a:tbl>
              <a:tblPr firstRow="0" bandRow="0"/>
              <a:tblGrid>
                <a:gridCol w="2084831"/>
                <a:gridCol w="1975104"/>
                <a:gridCol w="1975104"/>
                <a:gridCol w="2157984"/>
                <a:gridCol w="2862072"/>
              </a:tblGrid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950" b="1" i="0" spc="90">
                          <a:solidFill>
                            <a:srgbClr val="FFFFFF"/>
                          </a:solidFill>
                          <a:latin typeface="Calibri"/>
                        </a:rPr>
                        <a:t>CRITERION</a:t>
                      </a:r>
                    </a:p>
                  </a:txBody>
                  <a:tcPr marL="146304" marR="109728" marT="64008" marB="64008" anchor="ctr">
                    <a:solidFill>
                      <a:srgbClr val="0F172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950" b="1" i="0" spc="90">
                          <a:solidFill>
                            <a:srgbClr val="FFFFFF"/>
                          </a:solidFill>
                          <a:latin typeface="Calibri"/>
                        </a:rPr>
                        <a:t>MOODLE</a:t>
                      </a:r>
                    </a:p>
                  </a:txBody>
                  <a:tcPr marL="146304" marR="109728" marT="64008" marB="64008" anchor="ctr">
                    <a:solidFill>
                      <a:srgbClr val="0F172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950" b="1" i="0" spc="90">
                          <a:solidFill>
                            <a:srgbClr val="FFFFFF"/>
                          </a:solidFill>
                          <a:latin typeface="Calibri"/>
                        </a:rPr>
                        <a:t>USOS</a:t>
                      </a:r>
                    </a:p>
                  </a:txBody>
                  <a:tcPr marL="146304" marR="109728" marT="64008" marB="64008" anchor="ctr">
                    <a:solidFill>
                      <a:srgbClr val="0F172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950" b="1" i="0" spc="90">
                          <a:solidFill>
                            <a:srgbClr val="FFFFFF"/>
                          </a:solidFill>
                          <a:latin typeface="Calibri"/>
                        </a:rPr>
                        <a:t>GOOGLE CLASSROOM</a:t>
                      </a:r>
                    </a:p>
                  </a:txBody>
                  <a:tcPr marL="146304" marR="109728" marT="64008" marB="64008" anchor="ctr">
                    <a:solidFill>
                      <a:srgbClr val="0F172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950" b="1" i="0" spc="90">
                          <a:solidFill>
                            <a:srgbClr val="FFFFFF"/>
                          </a:solidFill>
                          <a:latin typeface="Calibri"/>
                        </a:rPr>
                        <a:t>SMS — THIS PROJECT</a:t>
                      </a:r>
                    </a:p>
                  </a:txBody>
                  <a:tcPr marL="146304" marR="109728" marT="64008" marB="64008" anchor="ctr">
                    <a:solidFill>
                      <a:srgbClr val="0F172A"/>
                    </a:solidFill>
                  </a:tcPr>
                </a:tc>
              </a:tr>
              <a:tr h="397764"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1" i="0">
                          <a:solidFill>
                            <a:srgbClr val="0F172A"/>
                          </a:solidFill>
                          <a:latin typeface="Calibri"/>
                        </a:rPr>
                        <a:t>Target user</a:t>
                      </a:r>
                    </a:p>
                  </a:txBody>
                  <a:tcPr marL="146304" marR="109728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0" i="0">
                          <a:solidFill>
                            <a:srgbClr val="475569"/>
                          </a:solidFill>
                          <a:latin typeface="Calibri"/>
                        </a:rPr>
                        <a:t>Large universities</a:t>
                      </a:r>
                    </a:p>
                  </a:txBody>
                  <a:tcPr marL="146304" marR="109728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0" i="0">
                          <a:solidFill>
                            <a:srgbClr val="475569"/>
                          </a:solidFill>
                          <a:latin typeface="Calibri"/>
                        </a:rPr>
                        <a:t>Polish public HEIs</a:t>
                      </a:r>
                    </a:p>
                  </a:txBody>
                  <a:tcPr marL="146304" marR="109728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0" i="0">
                          <a:solidFill>
                            <a:srgbClr val="475569"/>
                          </a:solidFill>
                          <a:latin typeface="Calibri"/>
                        </a:rPr>
                        <a:t>Schools and courses</a:t>
                      </a:r>
                    </a:p>
                  </a:txBody>
                  <a:tcPr marL="146304" marR="109728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1" i="0">
                          <a:solidFill>
                            <a:srgbClr val="2563EB"/>
                          </a:solidFill>
                          <a:latin typeface="Calibri"/>
                        </a:rPr>
                        <a:t>Departments and small institutions</a:t>
                      </a:r>
                    </a:p>
                  </a:txBody>
                  <a:tcPr marL="146304" marR="109728" marT="64008" marB="64008" anchor="ctr">
                    <a:solidFill>
                      <a:srgbClr val="FFFFFF"/>
                    </a:solidFill>
                  </a:tcPr>
                </a:tc>
              </a:tr>
              <a:tr h="397764"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1" i="0">
                          <a:solidFill>
                            <a:srgbClr val="0F172A"/>
                          </a:solidFill>
                          <a:latin typeface="Calibri"/>
                        </a:rPr>
                        <a:t>Deployment</a:t>
                      </a:r>
                    </a:p>
                  </a:txBody>
                  <a:tcPr marL="146304" marR="109728" marT="64008" marB="64008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0" i="0">
                          <a:solidFill>
                            <a:srgbClr val="475569"/>
                          </a:solidFill>
                          <a:latin typeface="Calibri"/>
                        </a:rPr>
                        <a:t>Self-hosted, heavy</a:t>
                      </a:r>
                    </a:p>
                  </a:txBody>
                  <a:tcPr marL="146304" marR="109728" marT="64008" marB="64008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0" i="0">
                          <a:solidFill>
                            <a:srgbClr val="475569"/>
                          </a:solidFill>
                          <a:latin typeface="Calibri"/>
                        </a:rPr>
                        <a:t>Vendor-managed</a:t>
                      </a:r>
                    </a:p>
                  </a:txBody>
                  <a:tcPr marL="146304" marR="109728" marT="64008" marB="64008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0" i="0">
                          <a:solidFill>
                            <a:srgbClr val="475569"/>
                          </a:solidFill>
                          <a:latin typeface="Calibri"/>
                        </a:rPr>
                        <a:t>Google cloud only</a:t>
                      </a:r>
                    </a:p>
                  </a:txBody>
                  <a:tcPr marL="146304" marR="109728" marT="64008" marB="64008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1" i="0">
                          <a:solidFill>
                            <a:srgbClr val="2563EB"/>
                          </a:solidFill>
                          <a:latin typeface="Calibri"/>
                        </a:rPr>
                        <a:t>Self-hosted, one Django app</a:t>
                      </a:r>
                    </a:p>
                  </a:txBody>
                  <a:tcPr marL="146304" marR="109728" marT="64008" marB="64008" anchor="ctr">
                    <a:solidFill>
                      <a:srgbClr val="F2F5F9"/>
                    </a:solidFill>
                  </a:tcPr>
                </a:tc>
              </a:tr>
              <a:tr h="397764"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1" i="0">
                          <a:solidFill>
                            <a:srgbClr val="0F172A"/>
                          </a:solidFill>
                          <a:latin typeface="Calibri"/>
                        </a:rPr>
                        <a:t>Setup effort</a:t>
                      </a:r>
                    </a:p>
                  </a:txBody>
                  <a:tcPr marL="146304" marR="109728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0" i="0">
                          <a:solidFill>
                            <a:srgbClr val="475569"/>
                          </a:solidFill>
                          <a:latin typeface="Calibri"/>
                        </a:rPr>
                        <a:t>Days of plugin work</a:t>
                      </a:r>
                    </a:p>
                  </a:txBody>
                  <a:tcPr marL="146304" marR="109728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0" i="0">
                          <a:solidFill>
                            <a:srgbClr val="475569"/>
                          </a:solidFill>
                          <a:latin typeface="Calibri"/>
                        </a:rPr>
                        <a:t>Institutional contract</a:t>
                      </a:r>
                    </a:p>
                  </a:txBody>
                  <a:tcPr marL="146304" marR="109728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0" i="0">
                          <a:solidFill>
                            <a:srgbClr val="475569"/>
                          </a:solidFill>
                          <a:latin typeface="Calibri"/>
                        </a:rPr>
                        <a:t>Minutes, no control</a:t>
                      </a:r>
                    </a:p>
                  </a:txBody>
                  <a:tcPr marL="146304" marR="109728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1" i="0">
                          <a:solidFill>
                            <a:srgbClr val="2563EB"/>
                          </a:solidFill>
                          <a:latin typeface="Calibri"/>
                        </a:rPr>
                        <a:t>Minutes — a single build script</a:t>
                      </a:r>
                    </a:p>
                  </a:txBody>
                  <a:tcPr marL="146304" marR="109728" marT="64008" marB="64008" anchor="ctr">
                    <a:solidFill>
                      <a:srgbClr val="FFFFFF"/>
                    </a:solidFill>
                  </a:tcPr>
                </a:tc>
              </a:tr>
              <a:tr h="397764"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1" i="0">
                          <a:solidFill>
                            <a:srgbClr val="0F172A"/>
                          </a:solidFill>
                          <a:latin typeface="Calibri"/>
                        </a:rPr>
                        <a:t>Gradebook</a:t>
                      </a:r>
                    </a:p>
                  </a:txBody>
                  <a:tcPr marL="146304" marR="109728" marT="64008" marB="64008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0" i="0">
                          <a:solidFill>
                            <a:srgbClr val="475569"/>
                          </a:solidFill>
                          <a:latin typeface="Calibri"/>
                        </a:rPr>
                        <a:t>Yes, complex</a:t>
                      </a:r>
                    </a:p>
                  </a:txBody>
                  <a:tcPr marL="146304" marR="109728" marT="64008" marB="64008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0" i="0">
                          <a:solidFill>
                            <a:srgbClr val="475569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146304" marR="109728" marT="64008" marB="64008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0" i="0">
                          <a:solidFill>
                            <a:srgbClr val="475569"/>
                          </a:solidFill>
                          <a:latin typeface="Calibri"/>
                        </a:rPr>
                        <a:t>Basic</a:t>
                      </a:r>
                    </a:p>
                  </a:txBody>
                  <a:tcPr marL="146304" marR="109728" marT="64008" marB="64008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1" i="0">
                          <a:solidFill>
                            <a:srgbClr val="2563EB"/>
                          </a:solidFill>
                          <a:latin typeface="Calibri"/>
                        </a:rPr>
                        <a:t>Weighted components + author audit</a:t>
                      </a:r>
                    </a:p>
                  </a:txBody>
                  <a:tcPr marL="146304" marR="109728" marT="64008" marB="64008" anchor="ctr">
                    <a:solidFill>
                      <a:srgbClr val="F2F5F9"/>
                    </a:solidFill>
                  </a:tcPr>
                </a:tc>
              </a:tr>
              <a:tr h="397764"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1" i="0">
                          <a:solidFill>
                            <a:srgbClr val="0F172A"/>
                          </a:solidFill>
                          <a:latin typeface="Calibri"/>
                        </a:rPr>
                        <a:t>Attendance register</a:t>
                      </a:r>
                    </a:p>
                  </a:txBody>
                  <a:tcPr marL="146304" marR="109728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0" i="0">
                          <a:solidFill>
                            <a:srgbClr val="475569"/>
                          </a:solidFill>
                          <a:latin typeface="Calibri"/>
                        </a:rPr>
                        <a:t>Plugin required</a:t>
                      </a:r>
                    </a:p>
                  </a:txBody>
                  <a:tcPr marL="146304" marR="109728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0" i="0">
                          <a:solidFill>
                            <a:srgbClr val="475569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146304" marR="109728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0" i="0">
                          <a:solidFill>
                            <a:srgbClr val="475569"/>
                          </a:solidFill>
                          <a:latin typeface="Calibri"/>
                        </a:rPr>
                        <a:t>Not available</a:t>
                      </a:r>
                    </a:p>
                  </a:txBody>
                  <a:tcPr marL="146304" marR="109728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1" i="0">
                          <a:solidFill>
                            <a:srgbClr val="2563EB"/>
                          </a:solidFill>
                          <a:latin typeface="Calibri"/>
                        </a:rPr>
                        <a:t>Built in, three statuses</a:t>
                      </a:r>
                    </a:p>
                  </a:txBody>
                  <a:tcPr marL="146304" marR="109728" marT="64008" marB="64008" anchor="ctr">
                    <a:solidFill>
                      <a:srgbClr val="FFFFFF"/>
                    </a:solidFill>
                  </a:tcPr>
                </a:tc>
              </a:tr>
              <a:tr h="397764"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1" i="0">
                          <a:solidFill>
                            <a:srgbClr val="0F172A"/>
                          </a:solidFill>
                          <a:latin typeface="Calibri"/>
                        </a:rPr>
                        <a:t>Role isolation</a:t>
                      </a:r>
                    </a:p>
                  </a:txBody>
                  <a:tcPr marL="146304" marR="109728" marT="64008" marB="64008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0" i="0">
                          <a:solidFill>
                            <a:srgbClr val="475569"/>
                          </a:solidFill>
                          <a:latin typeface="Calibri"/>
                        </a:rPr>
                        <a:t>Configurable, intricate</a:t>
                      </a:r>
                    </a:p>
                  </a:txBody>
                  <a:tcPr marL="146304" marR="109728" marT="64008" marB="64008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0" i="0">
                          <a:solidFill>
                            <a:srgbClr val="475569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146304" marR="109728" marT="64008" marB="64008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0" i="0">
                          <a:solidFill>
                            <a:srgbClr val="475569"/>
                          </a:solidFill>
                          <a:latin typeface="Calibri"/>
                        </a:rPr>
                        <a:t>Limited</a:t>
                      </a:r>
                    </a:p>
                  </a:txBody>
                  <a:tcPr marL="146304" marR="109728" marT="64008" marB="64008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1" i="0">
                          <a:solidFill>
                            <a:srgbClr val="2563EB"/>
                          </a:solidFill>
                          <a:latin typeface="Calibri"/>
                        </a:rPr>
                        <a:t>Enforced at queryset level</a:t>
                      </a:r>
                    </a:p>
                  </a:txBody>
                  <a:tcPr marL="146304" marR="109728" marT="64008" marB="64008" anchor="ctr">
                    <a:solidFill>
                      <a:srgbClr val="F2F5F9"/>
                    </a:solidFill>
                  </a:tcPr>
                </a:tc>
              </a:tr>
              <a:tr h="397764"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1" i="0">
                          <a:solidFill>
                            <a:srgbClr val="0F172A"/>
                          </a:solidFill>
                          <a:latin typeface="Calibri"/>
                        </a:rPr>
                        <a:t>Bilingual EN / PL</a:t>
                      </a:r>
                    </a:p>
                  </a:txBody>
                  <a:tcPr marL="146304" marR="109728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0" i="0">
                          <a:solidFill>
                            <a:srgbClr val="475569"/>
                          </a:solidFill>
                          <a:latin typeface="Calibri"/>
                        </a:rPr>
                        <a:t>Language packs</a:t>
                      </a:r>
                    </a:p>
                  </a:txBody>
                  <a:tcPr marL="146304" marR="109728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0" i="0">
                          <a:solidFill>
                            <a:srgbClr val="475569"/>
                          </a:solidFill>
                          <a:latin typeface="Calibri"/>
                        </a:rPr>
                        <a:t>Polish-first</a:t>
                      </a:r>
                    </a:p>
                  </a:txBody>
                  <a:tcPr marL="146304" marR="109728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0" i="0">
                          <a:solidFill>
                            <a:srgbClr val="475569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146304" marR="109728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1" i="0">
                          <a:solidFill>
                            <a:srgbClr val="2563EB"/>
                          </a:solidFill>
                          <a:latin typeface="Calibri"/>
                        </a:rPr>
                        <a:t>Native, 312 strings</a:t>
                      </a:r>
                    </a:p>
                  </a:txBody>
                  <a:tcPr marL="146304" marR="109728" marT="64008" marB="64008" anchor="ctr">
                    <a:solidFill>
                      <a:srgbClr val="FFFFFF"/>
                    </a:solidFill>
                  </a:tcPr>
                </a:tc>
              </a:tr>
              <a:tr h="397764"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1" i="0">
                          <a:solidFill>
                            <a:srgbClr val="0F172A"/>
                          </a:solidFill>
                          <a:latin typeface="Calibri"/>
                        </a:rPr>
                        <a:t>Analytics</a:t>
                      </a:r>
                    </a:p>
                  </a:txBody>
                  <a:tcPr marL="146304" marR="109728" marT="64008" marB="64008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0" i="0">
                          <a:solidFill>
                            <a:srgbClr val="475569"/>
                          </a:solidFill>
                          <a:latin typeface="Calibri"/>
                        </a:rPr>
                        <a:t>Reports plugin</a:t>
                      </a:r>
                    </a:p>
                  </a:txBody>
                  <a:tcPr marL="146304" marR="109728" marT="64008" marB="64008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0" i="0">
                          <a:solidFill>
                            <a:srgbClr val="475569"/>
                          </a:solidFill>
                          <a:latin typeface="Calibri"/>
                        </a:rPr>
                        <a:t>Institutional reports</a:t>
                      </a:r>
                    </a:p>
                  </a:txBody>
                  <a:tcPr marL="146304" marR="109728" marT="64008" marB="64008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0" i="0">
                          <a:solidFill>
                            <a:srgbClr val="475569"/>
                          </a:solidFill>
                          <a:latin typeface="Calibri"/>
                        </a:rPr>
                        <a:t>Minimal</a:t>
                      </a:r>
                    </a:p>
                  </a:txBody>
                  <a:tcPr marL="146304" marR="109728" marT="64008" marB="64008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1" i="0">
                          <a:solidFill>
                            <a:srgbClr val="2563EB"/>
                          </a:solidFill>
                          <a:latin typeface="Calibri"/>
                        </a:rPr>
                        <a:t>Chart.js dashboard + CSV</a:t>
                      </a:r>
                    </a:p>
                  </a:txBody>
                  <a:tcPr marL="146304" marR="109728" marT="64008" marB="64008" anchor="ctr">
                    <a:solidFill>
                      <a:srgbClr val="F2F5F9"/>
                    </a:solidFill>
                  </a:tcPr>
                </a:tc>
              </a:tr>
              <a:tr h="397764"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1" i="0">
                          <a:solidFill>
                            <a:srgbClr val="0F172A"/>
                          </a:solidFill>
                          <a:latin typeface="Calibri"/>
                        </a:rPr>
                        <a:t>Cost of ownership</a:t>
                      </a:r>
                    </a:p>
                  </a:txBody>
                  <a:tcPr marL="146304" marR="109728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0" i="0">
                          <a:solidFill>
                            <a:srgbClr val="475569"/>
                          </a:solidFill>
                          <a:latin typeface="Calibri"/>
                        </a:rPr>
                        <a:t>GPL + hosting</a:t>
                      </a:r>
                    </a:p>
                  </a:txBody>
                  <a:tcPr marL="146304" marR="109728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0" i="0">
                          <a:solidFill>
                            <a:srgbClr val="475569"/>
                          </a:solidFill>
                          <a:latin typeface="Calibri"/>
                        </a:rPr>
                        <a:t>Licensed</a:t>
                      </a:r>
                    </a:p>
                  </a:txBody>
                  <a:tcPr marL="146304" marR="109728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0" i="0">
                          <a:solidFill>
                            <a:srgbClr val="475569"/>
                          </a:solidFill>
                          <a:latin typeface="Calibri"/>
                        </a:rPr>
                        <a:t>Free, data in Google</a:t>
                      </a:r>
                    </a:p>
                  </a:txBody>
                  <a:tcPr marL="146304" marR="109728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1" i="0">
                          <a:solidFill>
                            <a:srgbClr val="2563EB"/>
                          </a:solidFill>
                          <a:latin typeface="Calibri"/>
                        </a:rPr>
                        <a:t>Open source, €0 hosting</a:t>
                      </a:r>
                    </a:p>
                  </a:txBody>
                  <a:tcPr marL="146304" marR="109728" marT="64008" marB="6400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66928" y="5870448"/>
            <a:ext cx="1105811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0F172A"/>
                </a:solidFill>
                <a:latin typeface="Calibri"/>
              </a:rPr>
              <a:t>Positioning: </a:t>
            </a:r>
            <a:r>
              <a:rPr sz="1150" b="0" i="0">
                <a:solidFill>
                  <a:srgbClr val="475569"/>
                </a:solidFill>
                <a:latin typeface="Calibri"/>
              </a:rPr>
              <a:t>the established platforms are either too heavy or too closed for a single department; SMS trades breadth for a focused, auditable and fully self-hosted core.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566928"/>
            <a:ext cx="100584" cy="420624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7" y="50292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 spc="140">
                <a:solidFill>
                  <a:srgbClr val="2563EB"/>
                </a:solidFill>
                <a:latin typeface="Calibri"/>
              </a:rPr>
              <a:t>CHOSEN FOR A MAINTAINABLE MONOLITH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7" y="758952"/>
            <a:ext cx="8778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0F172A"/>
                </a:solidFill>
                <a:latin typeface="Calibri"/>
              </a:rPr>
              <a:t>Technology Stack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96241" y="54864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50" b="0" i="0" spc="80">
                <a:solidFill>
                  <a:srgbClr val="8C9AAF"/>
                </a:solidFill>
                <a:latin typeface="Calibri"/>
              </a:rPr>
              <a:t>5 / 11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6199632"/>
            <a:ext cx="11058113" cy="10972"/>
          </a:xfrm>
          <a:prstGeom prst="rect">
            <a:avLst/>
          </a:prstGeom>
          <a:solidFill>
            <a:srgbClr val="E3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7" name="Picture 6" descr="vizja_logo_light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6327648"/>
            <a:ext cx="1298448" cy="26901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430481" y="6345936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 spc="60" u="none">
                <a:solidFill>
                  <a:srgbClr val="8C9AAF"/>
                </a:solidFill>
                <a:latin typeface="Calibri"/>
                <a:hlinkClick r:id="rId3"/>
              </a:rPr>
              <a:t>www.vizja.pl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481328"/>
            <a:ext cx="3551925" cy="40416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66928" y="1481328"/>
            <a:ext cx="3551925" cy="50292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7" y="1773936"/>
            <a:ext cx="3003285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 spc="130">
                <a:solidFill>
                  <a:srgbClr val="2563EB"/>
                </a:solidFill>
                <a:latin typeface="Calibri"/>
              </a:rPr>
              <a:t>BACKEND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8C9AAF"/>
                </a:solidFill>
                <a:latin typeface="Calibri"/>
              </a:rPr>
              <a:t>Runtime · data · authentication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7" y="2542032"/>
            <a:ext cx="3003285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950"/>
              </a:spcAft>
            </a:pPr>
            <a:r>
              <a:rPr sz="1250" b="1" i="0">
                <a:solidFill>
                  <a:srgbClr val="2563EB"/>
                </a:solidFill>
                <a:latin typeface="Calibri"/>
              </a:rPr>
              <a:t>·  </a:t>
            </a:r>
            <a:r>
              <a:rPr sz="1250" b="0" i="0">
                <a:solidFill>
                  <a:srgbClr val="1E293B"/>
                </a:solidFill>
                <a:latin typeface="Calibri"/>
              </a:rPr>
              <a:t>Python 3.12</a:t>
            </a:r>
          </a:p>
          <a:p>
            <a:pPr algn="l">
              <a:lnSpc>
                <a:spcPct val="110000"/>
              </a:lnSpc>
              <a:spcAft>
                <a:spcPts val="950"/>
              </a:spcAft>
            </a:pPr>
            <a:r>
              <a:rPr sz="1250" b="1" i="0">
                <a:solidFill>
                  <a:srgbClr val="2563EB"/>
                </a:solidFill>
                <a:latin typeface="Calibri"/>
              </a:rPr>
              <a:t>·  </a:t>
            </a:r>
            <a:r>
              <a:rPr sz="1250" b="0" i="0">
                <a:solidFill>
                  <a:srgbClr val="1E293B"/>
                </a:solidFill>
                <a:latin typeface="Calibri"/>
              </a:rPr>
              <a:t>Django 6.0.6</a:t>
            </a:r>
          </a:p>
          <a:p>
            <a:pPr algn="l">
              <a:lnSpc>
                <a:spcPct val="110000"/>
              </a:lnSpc>
              <a:spcAft>
                <a:spcPts val="950"/>
              </a:spcAft>
            </a:pPr>
            <a:r>
              <a:rPr sz="1250" b="1" i="0">
                <a:solidFill>
                  <a:srgbClr val="2563EB"/>
                </a:solidFill>
                <a:latin typeface="Calibri"/>
              </a:rPr>
              <a:t>·  </a:t>
            </a:r>
            <a:r>
              <a:rPr sz="1250" b="0" i="0">
                <a:solidFill>
                  <a:srgbClr val="1E293B"/>
                </a:solidFill>
                <a:latin typeface="Calibri"/>
              </a:rPr>
              <a:t>PostgreSQL 16 (Neon)</a:t>
            </a:r>
          </a:p>
          <a:p>
            <a:pPr algn="l">
              <a:lnSpc>
                <a:spcPct val="110000"/>
              </a:lnSpc>
              <a:spcAft>
                <a:spcPts val="950"/>
              </a:spcAft>
            </a:pPr>
            <a:r>
              <a:rPr sz="1250" b="1" i="0">
                <a:solidFill>
                  <a:srgbClr val="2563EB"/>
                </a:solidFill>
                <a:latin typeface="Calibri"/>
              </a:rPr>
              <a:t>·  </a:t>
            </a:r>
            <a:r>
              <a:rPr sz="1250" b="0" i="0">
                <a:solidFill>
                  <a:srgbClr val="1E293B"/>
                </a:solidFill>
                <a:latin typeface="Calibri"/>
              </a:rPr>
              <a:t>SQLite 3 for development</a:t>
            </a:r>
          </a:p>
          <a:p>
            <a:pPr algn="l">
              <a:lnSpc>
                <a:spcPct val="110000"/>
              </a:lnSpc>
              <a:spcAft>
                <a:spcPts val="950"/>
              </a:spcAft>
            </a:pPr>
            <a:r>
              <a:rPr sz="1250" b="1" i="0">
                <a:solidFill>
                  <a:srgbClr val="2563EB"/>
                </a:solidFill>
                <a:latin typeface="Calibri"/>
              </a:rPr>
              <a:t>·  </a:t>
            </a:r>
            <a:r>
              <a:rPr sz="1250" b="0" i="0">
                <a:solidFill>
                  <a:srgbClr val="1E293B"/>
                </a:solidFill>
                <a:latin typeface="Calibri"/>
              </a:rPr>
              <a:t>Django session authentication</a:t>
            </a:r>
          </a:p>
          <a:p>
            <a:pPr algn="l">
              <a:lnSpc>
                <a:spcPct val="110000"/>
              </a:lnSpc>
              <a:spcAft>
                <a:spcPts val="950"/>
              </a:spcAft>
            </a:pPr>
            <a:r>
              <a:rPr sz="1250" b="1" i="0">
                <a:solidFill>
                  <a:srgbClr val="2563EB"/>
                </a:solidFill>
                <a:latin typeface="Calibri"/>
              </a:rPr>
              <a:t>·  </a:t>
            </a:r>
            <a:r>
              <a:rPr sz="1250" b="0" i="0">
                <a:solidFill>
                  <a:srgbClr val="1E293B"/>
                </a:solidFill>
                <a:latin typeface="Calibri"/>
              </a:rPr>
              <a:t>Custom user model with roles</a:t>
            </a:r>
          </a:p>
          <a:p>
            <a:pPr algn="l">
              <a:lnSpc>
                <a:spcPct val="110000"/>
              </a:lnSpc>
              <a:spcAft>
                <a:spcPts val="950"/>
              </a:spcAft>
            </a:pPr>
            <a:r>
              <a:rPr sz="1250" b="1" i="0">
                <a:solidFill>
                  <a:srgbClr val="2563EB"/>
                </a:solidFill>
                <a:latin typeface="Calibri"/>
              </a:rPr>
              <a:t>·  </a:t>
            </a:r>
            <a:r>
              <a:rPr sz="1250" b="0" i="0">
                <a:solidFill>
                  <a:srgbClr val="1E293B"/>
                </a:solidFill>
                <a:latin typeface="Calibri"/>
              </a:rPr>
              <a:t>Django ORM · 6 migrations</a:t>
            </a:r>
          </a:p>
          <a:p>
            <a:pPr algn="l">
              <a:lnSpc>
                <a:spcPct val="110000"/>
              </a:lnSpc>
              <a:spcAft>
                <a:spcPts val="950"/>
              </a:spcAft>
            </a:pPr>
            <a:r>
              <a:rPr sz="1250" b="1" i="0">
                <a:solidFill>
                  <a:srgbClr val="2563EB"/>
                </a:solidFill>
                <a:latin typeface="Calibri"/>
              </a:rPr>
              <a:t>·  </a:t>
            </a:r>
            <a:r>
              <a:rPr sz="1250" b="0" i="0">
                <a:solidFill>
                  <a:srgbClr val="1E293B"/>
                </a:solidFill>
                <a:latin typeface="Calibri"/>
              </a:rPr>
              <a:t>dj-database-url 2.1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20021" y="1481328"/>
            <a:ext cx="3551925" cy="40416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320021" y="1481328"/>
            <a:ext cx="3551925" cy="50292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94341" y="1773936"/>
            <a:ext cx="3003285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 spc="130">
                <a:solidFill>
                  <a:srgbClr val="7C3AED"/>
                </a:solidFill>
                <a:latin typeface="Calibri"/>
              </a:rPr>
              <a:t>FRONTEND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8C9AAF"/>
                </a:solidFill>
                <a:latin typeface="Calibri"/>
              </a:rPr>
              <a:t>Templates · charts · theming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94341" y="2542032"/>
            <a:ext cx="3003285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950"/>
              </a:spcAft>
            </a:pPr>
            <a:r>
              <a:rPr sz="1250" b="1" i="0">
                <a:solidFill>
                  <a:srgbClr val="7C3AED"/>
                </a:solidFill>
                <a:latin typeface="Calibri"/>
              </a:rPr>
              <a:t>·  </a:t>
            </a:r>
            <a:r>
              <a:rPr sz="1250" b="0" i="0">
                <a:solidFill>
                  <a:srgbClr val="1E293B"/>
                </a:solidFill>
                <a:latin typeface="Calibri"/>
              </a:rPr>
              <a:t>Django Templates · 30 files</a:t>
            </a:r>
          </a:p>
          <a:p>
            <a:pPr algn="l">
              <a:lnSpc>
                <a:spcPct val="110000"/>
              </a:lnSpc>
              <a:spcAft>
                <a:spcPts val="950"/>
              </a:spcAft>
            </a:pPr>
            <a:r>
              <a:rPr sz="1250" b="1" i="0">
                <a:solidFill>
                  <a:srgbClr val="7C3AED"/>
                </a:solidFill>
                <a:latin typeface="Calibri"/>
              </a:rPr>
              <a:t>·  </a:t>
            </a:r>
            <a:r>
              <a:rPr sz="1250" b="0" i="0">
                <a:solidFill>
                  <a:srgbClr val="1E293B"/>
                </a:solidFill>
                <a:latin typeface="Calibri"/>
              </a:rPr>
              <a:t>Semantic HTML5</a:t>
            </a:r>
          </a:p>
          <a:p>
            <a:pPr algn="l">
              <a:lnSpc>
                <a:spcPct val="110000"/>
              </a:lnSpc>
              <a:spcAft>
                <a:spcPts val="950"/>
              </a:spcAft>
            </a:pPr>
            <a:r>
              <a:rPr sz="1250" b="1" i="0">
                <a:solidFill>
                  <a:srgbClr val="7C3AED"/>
                </a:solidFill>
                <a:latin typeface="Calibri"/>
              </a:rPr>
              <a:t>·  </a:t>
            </a:r>
            <a:r>
              <a:rPr sz="1250" b="0" i="0">
                <a:solidFill>
                  <a:srgbClr val="1E293B"/>
                </a:solidFill>
                <a:latin typeface="Calibri"/>
              </a:rPr>
              <a:t>CSS custom properties · 1 945 lines</a:t>
            </a:r>
          </a:p>
          <a:p>
            <a:pPr algn="l">
              <a:lnSpc>
                <a:spcPct val="110000"/>
              </a:lnSpc>
              <a:spcAft>
                <a:spcPts val="950"/>
              </a:spcAft>
            </a:pPr>
            <a:r>
              <a:rPr sz="1250" b="1" i="0">
                <a:solidFill>
                  <a:srgbClr val="7C3AED"/>
                </a:solidFill>
                <a:latin typeface="Calibri"/>
              </a:rPr>
              <a:t>·  </a:t>
            </a:r>
            <a:r>
              <a:rPr sz="1250" b="0" i="0">
                <a:solidFill>
                  <a:srgbClr val="1E293B"/>
                </a:solidFill>
                <a:latin typeface="Calibri"/>
              </a:rPr>
              <a:t>Vanilla JavaScript ES6 · 425 lines</a:t>
            </a:r>
          </a:p>
          <a:p>
            <a:pPr algn="l">
              <a:lnSpc>
                <a:spcPct val="110000"/>
              </a:lnSpc>
              <a:spcAft>
                <a:spcPts val="950"/>
              </a:spcAft>
            </a:pPr>
            <a:r>
              <a:rPr sz="1250" b="1" i="0">
                <a:solidFill>
                  <a:srgbClr val="7C3AED"/>
                </a:solidFill>
                <a:latin typeface="Calibri"/>
              </a:rPr>
              <a:t>·  </a:t>
            </a:r>
            <a:r>
              <a:rPr sz="1250" b="0" i="0">
                <a:solidFill>
                  <a:srgbClr val="1E293B"/>
                </a:solidFill>
                <a:latin typeface="Calibri"/>
              </a:rPr>
              <a:t>Chart.js 4 — doughnut and bars</a:t>
            </a:r>
          </a:p>
          <a:p>
            <a:pPr algn="l">
              <a:lnSpc>
                <a:spcPct val="110000"/>
              </a:lnSpc>
              <a:spcAft>
                <a:spcPts val="950"/>
              </a:spcAft>
            </a:pPr>
            <a:r>
              <a:rPr sz="1250" b="1" i="0">
                <a:solidFill>
                  <a:srgbClr val="7C3AED"/>
                </a:solidFill>
                <a:latin typeface="Calibri"/>
              </a:rPr>
              <a:t>·  </a:t>
            </a:r>
            <a:r>
              <a:rPr sz="1250" b="0" i="0">
                <a:solidFill>
                  <a:srgbClr val="1E293B"/>
                </a:solidFill>
                <a:latin typeface="Calibri"/>
              </a:rPr>
              <a:t>Turbo 8 page transitions</a:t>
            </a:r>
          </a:p>
          <a:p>
            <a:pPr algn="l">
              <a:lnSpc>
                <a:spcPct val="110000"/>
              </a:lnSpc>
              <a:spcAft>
                <a:spcPts val="950"/>
              </a:spcAft>
            </a:pPr>
            <a:r>
              <a:rPr sz="1250" b="1" i="0">
                <a:solidFill>
                  <a:srgbClr val="7C3AED"/>
                </a:solidFill>
                <a:latin typeface="Calibri"/>
              </a:rPr>
              <a:t>·  </a:t>
            </a:r>
            <a:r>
              <a:rPr sz="1250" b="0" i="0">
                <a:solidFill>
                  <a:srgbClr val="1E293B"/>
                </a:solidFill>
                <a:latin typeface="Calibri"/>
              </a:rPr>
              <a:t>Bootstrap Icons</a:t>
            </a:r>
          </a:p>
          <a:p>
            <a:pPr algn="l">
              <a:lnSpc>
                <a:spcPct val="110000"/>
              </a:lnSpc>
              <a:spcAft>
                <a:spcPts val="950"/>
              </a:spcAft>
            </a:pPr>
            <a:r>
              <a:rPr sz="1250" b="1" i="0">
                <a:solidFill>
                  <a:srgbClr val="7C3AED"/>
                </a:solidFill>
                <a:latin typeface="Calibri"/>
              </a:rPr>
              <a:t>·  </a:t>
            </a:r>
            <a:r>
              <a:rPr sz="1250" b="0" i="0">
                <a:solidFill>
                  <a:srgbClr val="1E293B"/>
                </a:solidFill>
                <a:latin typeface="Calibri"/>
              </a:rPr>
              <a:t>Light and dark themes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73115" y="1481328"/>
            <a:ext cx="3551925" cy="40416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073115" y="1481328"/>
            <a:ext cx="3551925" cy="50292"/>
          </a:xfrm>
          <a:prstGeom prst="roundRect">
            <a:avLst>
              <a:gd name="adj" fmla="val 50000"/>
            </a:avLst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47435" y="1773936"/>
            <a:ext cx="3003285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 spc="130">
                <a:solidFill>
                  <a:srgbClr val="16A34A"/>
                </a:solidFill>
                <a:latin typeface="Calibri"/>
              </a:rPr>
              <a:t>INFRASTRUCTURE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8C9AAF"/>
                </a:solidFill>
                <a:latin typeface="Calibri"/>
              </a:rPr>
              <a:t>Hosting · operations · CI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47435" y="2542032"/>
            <a:ext cx="3003285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950"/>
              </a:spcAft>
            </a:pPr>
            <a:r>
              <a:rPr sz="1250" b="1" i="0">
                <a:solidFill>
                  <a:srgbClr val="16A34A"/>
                </a:solidFill>
                <a:latin typeface="Calibri"/>
              </a:rPr>
              <a:t>·  </a:t>
            </a:r>
            <a:r>
              <a:rPr sz="1250" b="0" i="0">
                <a:solidFill>
                  <a:srgbClr val="1E293B"/>
                </a:solidFill>
                <a:latin typeface="Calibri"/>
              </a:rPr>
              <a:t>Render web service</a:t>
            </a:r>
          </a:p>
          <a:p>
            <a:pPr algn="l">
              <a:lnSpc>
                <a:spcPct val="110000"/>
              </a:lnSpc>
              <a:spcAft>
                <a:spcPts val="950"/>
              </a:spcAft>
            </a:pPr>
            <a:r>
              <a:rPr sz="1250" b="1" i="0">
                <a:solidFill>
                  <a:srgbClr val="16A34A"/>
                </a:solidFill>
                <a:latin typeface="Calibri"/>
              </a:rPr>
              <a:t>·  </a:t>
            </a:r>
            <a:r>
              <a:rPr sz="1250" b="0" i="0">
                <a:solidFill>
                  <a:srgbClr val="1E293B"/>
                </a:solidFill>
                <a:latin typeface="Calibri"/>
              </a:rPr>
              <a:t>Neon managed PostgreSQL</a:t>
            </a:r>
          </a:p>
          <a:p>
            <a:pPr algn="l">
              <a:lnSpc>
                <a:spcPct val="110000"/>
              </a:lnSpc>
              <a:spcAft>
                <a:spcPts val="950"/>
              </a:spcAft>
            </a:pPr>
            <a:r>
              <a:rPr sz="1250" b="1" i="0">
                <a:solidFill>
                  <a:srgbClr val="16A34A"/>
                </a:solidFill>
                <a:latin typeface="Calibri"/>
              </a:rPr>
              <a:t>·  </a:t>
            </a:r>
            <a:r>
              <a:rPr sz="1250" b="0" i="0">
                <a:solidFill>
                  <a:srgbClr val="1E293B"/>
                </a:solidFill>
                <a:latin typeface="Calibri"/>
              </a:rPr>
              <a:t>Gunicorn 22 (WSGI)</a:t>
            </a:r>
          </a:p>
          <a:p>
            <a:pPr algn="l">
              <a:lnSpc>
                <a:spcPct val="110000"/>
              </a:lnSpc>
              <a:spcAft>
                <a:spcPts val="950"/>
              </a:spcAft>
            </a:pPr>
            <a:r>
              <a:rPr sz="1250" b="1" i="0">
                <a:solidFill>
                  <a:srgbClr val="16A34A"/>
                </a:solidFill>
                <a:latin typeface="Calibri"/>
              </a:rPr>
              <a:t>·  </a:t>
            </a:r>
            <a:r>
              <a:rPr sz="1250" b="0" i="0">
                <a:solidFill>
                  <a:srgbClr val="1E293B"/>
                </a:solidFill>
                <a:latin typeface="Calibri"/>
              </a:rPr>
              <a:t>WhiteNoise 6.6 static files</a:t>
            </a:r>
          </a:p>
          <a:p>
            <a:pPr algn="l">
              <a:lnSpc>
                <a:spcPct val="110000"/>
              </a:lnSpc>
              <a:spcAft>
                <a:spcPts val="950"/>
              </a:spcAft>
            </a:pPr>
            <a:r>
              <a:rPr sz="1250" b="1" i="0">
                <a:solidFill>
                  <a:srgbClr val="16A34A"/>
                </a:solidFill>
                <a:latin typeface="Calibri"/>
              </a:rPr>
              <a:t>·  </a:t>
            </a:r>
            <a:r>
              <a:rPr sz="1250" b="0" i="0">
                <a:solidFill>
                  <a:srgbClr val="1E293B"/>
                </a:solidFill>
                <a:latin typeface="Calibri"/>
              </a:rPr>
              <a:t>HTTPS with HSTS preload</a:t>
            </a:r>
          </a:p>
          <a:p>
            <a:pPr algn="l">
              <a:lnSpc>
                <a:spcPct val="110000"/>
              </a:lnSpc>
              <a:spcAft>
                <a:spcPts val="950"/>
              </a:spcAft>
            </a:pPr>
            <a:r>
              <a:rPr sz="1250" b="1" i="0">
                <a:solidFill>
                  <a:srgbClr val="16A34A"/>
                </a:solidFill>
                <a:latin typeface="Calibri"/>
              </a:rPr>
              <a:t>·  </a:t>
            </a:r>
            <a:r>
              <a:rPr sz="1250" b="0" i="0">
                <a:solidFill>
                  <a:srgbClr val="1E293B"/>
                </a:solidFill>
                <a:latin typeface="Calibri"/>
              </a:rPr>
              <a:t>GitHub Actions CI</a:t>
            </a:r>
          </a:p>
          <a:p>
            <a:pPr algn="l">
              <a:lnSpc>
                <a:spcPct val="110000"/>
              </a:lnSpc>
              <a:spcAft>
                <a:spcPts val="950"/>
              </a:spcAft>
            </a:pPr>
            <a:r>
              <a:rPr sz="1250" b="1" i="0">
                <a:solidFill>
                  <a:srgbClr val="16A34A"/>
                </a:solidFill>
                <a:latin typeface="Calibri"/>
              </a:rPr>
              <a:t>·  </a:t>
            </a:r>
            <a:r>
              <a:rPr sz="1250" b="0" i="0">
                <a:solidFill>
                  <a:srgbClr val="1E293B"/>
                </a:solidFill>
                <a:latin typeface="Calibri"/>
              </a:rPr>
              <a:t>Git version control</a:t>
            </a:r>
          </a:p>
          <a:p>
            <a:pPr algn="l">
              <a:lnSpc>
                <a:spcPct val="110000"/>
              </a:lnSpc>
              <a:spcAft>
                <a:spcPts val="950"/>
              </a:spcAft>
            </a:pPr>
            <a:r>
              <a:rPr sz="1250" b="1" i="0">
                <a:solidFill>
                  <a:srgbClr val="16A34A"/>
                </a:solidFill>
                <a:latin typeface="Calibri"/>
              </a:rPr>
              <a:t>·  </a:t>
            </a:r>
            <a:r>
              <a:rPr sz="1250" b="0" i="0">
                <a:solidFill>
                  <a:srgbClr val="1E293B"/>
                </a:solidFill>
                <a:latin typeface="Calibri"/>
              </a:rPr>
              <a:t>Zero CDN dependencies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5559552"/>
            <a:ext cx="11058113" cy="530352"/>
          </a:xfrm>
          <a:prstGeom prst="roundRect">
            <a:avLst>
              <a:gd name="adj" fmla="val 9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77824" y="5614416"/>
            <a:ext cx="10436321" cy="4206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No build step, no separate API server. </a:t>
            </a:r>
            <a:r>
              <a:rPr sz="1200" b="0" i="0">
                <a:solidFill>
                  <a:srgbClr val="D6DFEC"/>
                </a:solidFill>
                <a:latin typeface="Calibri"/>
              </a:rPr>
              <a:t>Every asset is vendored locally, so the application runs and demonstrates fully offline.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566928"/>
            <a:ext cx="100584" cy="420624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7" y="50292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 spc="140">
                <a:solidFill>
                  <a:srgbClr val="2563EB"/>
                </a:solidFill>
                <a:latin typeface="Calibri"/>
              </a:rPr>
              <a:t>SERVER-RENDERED MTV MONOLITH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7" y="758952"/>
            <a:ext cx="8778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0F172A"/>
                </a:solidFill>
                <a:latin typeface="Calibri"/>
              </a:rPr>
              <a:t>System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96241" y="54864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50" b="0" i="0" spc="80">
                <a:solidFill>
                  <a:srgbClr val="8C9AAF"/>
                </a:solidFill>
                <a:latin typeface="Calibri"/>
              </a:rPr>
              <a:t>6 / 11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6199632"/>
            <a:ext cx="11058113" cy="10972"/>
          </a:xfrm>
          <a:prstGeom prst="rect">
            <a:avLst/>
          </a:prstGeom>
          <a:solidFill>
            <a:srgbClr val="E3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7" name="Picture 6" descr="vizja_logo_light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6327648"/>
            <a:ext cx="1298448" cy="26901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430481" y="6345936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 spc="60" u="none">
                <a:solidFill>
                  <a:srgbClr val="8C9AAF"/>
                </a:solidFill>
                <a:latin typeface="Calibri"/>
                <a:hlinkClick r:id="rId3"/>
              </a:rPr>
              <a:t>www.vizja.pl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591056"/>
            <a:ext cx="2578608" cy="14813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66928" y="1591056"/>
            <a:ext cx="2578608" cy="50292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1865376"/>
            <a:ext cx="21031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950" b="1" i="0" spc="130">
                <a:solidFill>
                  <a:srgbClr val="2563EB"/>
                </a:solidFill>
                <a:latin typeface="Calibri"/>
              </a:rPr>
              <a:t>CLIENT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0F172A"/>
                </a:solidFill>
                <a:latin typeface="Calibri"/>
              </a:rPr>
              <a:t>Browser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1050" b="0" i="0">
                <a:solidFill>
                  <a:srgbClr val="475569"/>
                </a:solidFill>
                <a:latin typeface="Calibri"/>
              </a:rPr>
              <a:t>HTML · CSS · ES6
Turbo navigation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54679" y="2139696"/>
            <a:ext cx="22960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200" b="1" i="0">
                <a:solidFill>
                  <a:srgbClr val="B4C0D0"/>
                </a:solidFill>
                <a:latin typeface="Calibri"/>
              </a:rPr>
              <a:t>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93429" y="1591056"/>
            <a:ext cx="2578608" cy="14813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393429" y="1591056"/>
            <a:ext cx="2578608" cy="50292"/>
          </a:xfrm>
          <a:prstGeom prst="roundRect">
            <a:avLst>
              <a:gd name="adj" fmla="val 50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31173" y="1865376"/>
            <a:ext cx="21031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950" b="1" i="0" spc="130">
                <a:solidFill>
                  <a:srgbClr val="0D9488"/>
                </a:solidFill>
                <a:latin typeface="Calibri"/>
              </a:rPr>
              <a:t>EDGE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0F172A"/>
                </a:solidFill>
                <a:latin typeface="Calibri"/>
              </a:rPr>
              <a:t>Render · TLS 443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1050" b="0" i="0">
                <a:solidFill>
                  <a:srgbClr val="475569"/>
                </a:solidFill>
                <a:latin typeface="Calibri"/>
              </a:rPr>
              <a:t>HTTPS, HSTS
static via WhiteNoise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81181" y="2139696"/>
            <a:ext cx="22960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200" b="1" i="0">
                <a:solidFill>
                  <a:srgbClr val="B4C0D0"/>
                </a:solidFill>
                <a:latin typeface="Calibri"/>
              </a:rPr>
              <a:t>›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9931" y="1591056"/>
            <a:ext cx="2578608" cy="14813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219931" y="1591056"/>
            <a:ext cx="2578608" cy="50292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57675" y="1865376"/>
            <a:ext cx="21031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950" b="1" i="0" spc="130">
                <a:solidFill>
                  <a:srgbClr val="7C3AED"/>
                </a:solidFill>
                <a:latin typeface="Calibri"/>
              </a:rPr>
              <a:t>APPLICATION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0F172A"/>
                </a:solidFill>
                <a:latin typeface="Calibri"/>
              </a:rPr>
              <a:t>Gunicorn + Django 6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1050" b="0" i="0">
                <a:solidFill>
                  <a:srgbClr val="475569"/>
                </a:solidFill>
                <a:latin typeface="Calibri"/>
              </a:rPr>
              <a:t>URL › View › Template
ORM aggregation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07683" y="2139696"/>
            <a:ext cx="22960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200" b="1" i="0">
                <a:solidFill>
                  <a:srgbClr val="B4C0D0"/>
                </a:solidFill>
                <a:latin typeface="Calibri"/>
              </a:rPr>
              <a:t>›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46433" y="1591056"/>
            <a:ext cx="2578608" cy="14813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046433" y="1591056"/>
            <a:ext cx="2578608" cy="50292"/>
          </a:xfrm>
          <a:prstGeom prst="roundRect">
            <a:avLst>
              <a:gd name="adj" fmla="val 50000"/>
            </a:avLst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84177" y="1865376"/>
            <a:ext cx="21031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950" b="1" i="0" spc="130">
                <a:solidFill>
                  <a:srgbClr val="16A34A"/>
                </a:solidFill>
                <a:latin typeface="Calibri"/>
              </a:rPr>
              <a:t>DATA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0F172A"/>
                </a:solidFill>
                <a:latin typeface="Calibri"/>
              </a:rPr>
              <a:t>PostgreSQL 16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1050" b="0" i="0">
                <a:solidFill>
                  <a:srgbClr val="475569"/>
                </a:solidFill>
                <a:latin typeface="Calibri"/>
              </a:rPr>
              <a:t>Neon managed
daily backups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3328416"/>
            <a:ext cx="11058113" cy="8412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1247" y="3502152"/>
            <a:ext cx="3657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 spc="120">
                <a:solidFill>
                  <a:srgbClr val="8C9AAF"/>
                </a:solidFill>
                <a:latin typeface="Calibri"/>
              </a:rPr>
              <a:t>REQUEST PIPELINE — MIDDLEWARE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41247" y="3776472"/>
            <a:ext cx="790041" cy="274320"/>
          </a:xfrm>
          <a:prstGeom prst="roundRect">
            <a:avLst>
              <a:gd name="adj" fmla="val 40000"/>
            </a:avLst>
          </a:prstGeom>
          <a:solidFill>
            <a:srgbClr val="F6F8FB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1247" y="3803904"/>
            <a:ext cx="79004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1E293B"/>
                </a:solidFill>
                <a:latin typeface="Calibri"/>
              </a:rPr>
              <a:t>Security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741017" y="3776472"/>
            <a:ext cx="714146" cy="274320"/>
          </a:xfrm>
          <a:prstGeom prst="roundRect">
            <a:avLst>
              <a:gd name="adj" fmla="val 40000"/>
            </a:avLst>
          </a:prstGeom>
          <a:solidFill>
            <a:srgbClr val="F6F8FB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741017" y="3803904"/>
            <a:ext cx="71414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1E293B"/>
                </a:solidFill>
                <a:latin typeface="Calibri"/>
              </a:rPr>
              <a:t>Session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564892" y="3776472"/>
            <a:ext cx="486460" cy="274320"/>
          </a:xfrm>
          <a:prstGeom prst="roundRect">
            <a:avLst>
              <a:gd name="adj" fmla="val 40000"/>
            </a:avLst>
          </a:prstGeom>
          <a:solidFill>
            <a:srgbClr val="F6F8FB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564892" y="3803904"/>
            <a:ext cx="4864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1E293B"/>
                </a:solidFill>
                <a:latin typeface="Calibri"/>
              </a:rPr>
              <a:t>CSRF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161080" y="3776472"/>
            <a:ext cx="638251" cy="274320"/>
          </a:xfrm>
          <a:prstGeom prst="roundRect">
            <a:avLst>
              <a:gd name="adj" fmla="val 40000"/>
            </a:avLst>
          </a:prstGeom>
          <a:solidFill>
            <a:srgbClr val="F6F8FB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161080" y="3803904"/>
            <a:ext cx="63825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1E293B"/>
                </a:solidFill>
                <a:latin typeface="Calibri"/>
              </a:rPr>
              <a:t>Locale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909060" y="3776472"/>
            <a:ext cx="941832" cy="274320"/>
          </a:xfrm>
          <a:prstGeom prst="roundRect">
            <a:avLst>
              <a:gd name="adj" fmla="val 40000"/>
            </a:avLst>
          </a:prstGeom>
          <a:solidFill>
            <a:srgbClr val="F6F8FB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909060" y="3803904"/>
            <a:ext cx="94183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1E293B"/>
                </a:solidFill>
                <a:latin typeface="Calibri"/>
              </a:rPr>
              <a:t>WhiteNoise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960620" y="3776472"/>
            <a:ext cx="1245412" cy="274320"/>
          </a:xfrm>
          <a:prstGeom prst="roundRect">
            <a:avLst>
              <a:gd name="adj" fmla="val 40000"/>
            </a:avLst>
          </a:prstGeom>
          <a:solidFill>
            <a:srgbClr val="F6F8FB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960620" y="3803904"/>
            <a:ext cx="124541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1E293B"/>
                </a:solidFill>
                <a:latin typeface="Calibri"/>
              </a:rPr>
              <a:t>Authentication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315760" y="3776472"/>
            <a:ext cx="1321308" cy="274320"/>
          </a:xfrm>
          <a:prstGeom prst="roundRect">
            <a:avLst>
              <a:gd name="adj" fmla="val 40000"/>
            </a:avLst>
          </a:prstGeom>
          <a:solidFill>
            <a:srgbClr val="F6F8FB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315760" y="3803904"/>
            <a:ext cx="132130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1E293B"/>
                </a:solidFill>
                <a:latin typeface="Calibri"/>
              </a:rPr>
              <a:t>Role decorators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746796" y="3776472"/>
            <a:ext cx="1397203" cy="274320"/>
          </a:xfrm>
          <a:prstGeom prst="roundRect">
            <a:avLst>
              <a:gd name="adj" fmla="val 40000"/>
            </a:avLst>
          </a:prstGeom>
          <a:solidFill>
            <a:srgbClr val="F6F8FB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746796" y="3803904"/>
            <a:ext cx="139720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1E293B"/>
                </a:solidFill>
                <a:latin typeface="Calibri"/>
              </a:rPr>
              <a:t>Queryset scoping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66928" y="4352544"/>
            <a:ext cx="4572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 spc="120">
                <a:solidFill>
                  <a:srgbClr val="8C9AAF"/>
                </a:solidFill>
                <a:latin typeface="Calibri"/>
              </a:rPr>
              <a:t>SUPPORTING SERVICES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66928" y="4626864"/>
            <a:ext cx="2079949" cy="7863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68096" y="4773168"/>
            <a:ext cx="1677613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F172A"/>
                </a:solidFill>
                <a:latin typeface="Calibri"/>
              </a:rPr>
              <a:t>i18n EN / PL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8C9AAF"/>
                </a:solidFill>
                <a:latin typeface="Calibri"/>
              </a:rPr>
              <a:t>Interface language switch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2811469" y="4626864"/>
            <a:ext cx="2079949" cy="7863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012637" y="4773168"/>
            <a:ext cx="1677613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F172A"/>
                </a:solidFill>
                <a:latin typeface="Calibri"/>
              </a:rPr>
              <a:t>GitHub Actions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8C9AAF"/>
                </a:solidFill>
                <a:latin typeface="Calibri"/>
              </a:rPr>
              <a:t>Tests and deploy gates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056010" y="4626864"/>
            <a:ext cx="2079949" cy="7863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257178" y="4773168"/>
            <a:ext cx="1677613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F172A"/>
                </a:solidFill>
                <a:latin typeface="Calibri"/>
              </a:rPr>
              <a:t>Teachers screen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8C9AAF"/>
                </a:solidFill>
                <a:latin typeface="Calibri"/>
              </a:rPr>
              <a:t>Admin issues lecturer accounts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7300551" y="4626864"/>
            <a:ext cx="2079949" cy="7863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501719" y="4773168"/>
            <a:ext cx="1677613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F172A"/>
                </a:solidFill>
                <a:latin typeface="Calibri"/>
              </a:rPr>
              <a:t>CSV export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8C9AAF"/>
                </a:solidFill>
                <a:latin typeface="Calibri"/>
              </a:rPr>
              <a:t>Role-scoped reporting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9545092" y="4626864"/>
            <a:ext cx="2079949" cy="7863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746260" y="4773168"/>
            <a:ext cx="1677613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F172A"/>
                </a:solidFill>
                <a:latin typeface="Calibri"/>
              </a:rPr>
              <a:t>/api/dashboard/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8C9AAF"/>
                </a:solidFill>
                <a:latin typeface="Calibri"/>
              </a:rPr>
              <a:t>JSON metrics endpoint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566928"/>
            <a:ext cx="100584" cy="420624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7" y="50292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 spc="140">
                <a:solidFill>
                  <a:srgbClr val="2563EB"/>
                </a:solidFill>
                <a:latin typeface="Calibri"/>
              </a:rPr>
              <a:t>6 MODELS · 6 MIGRATIONS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7" y="758952"/>
            <a:ext cx="8778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0F172A"/>
                </a:solidFill>
                <a:latin typeface="Calibri"/>
              </a:rPr>
              <a:t>Database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96241" y="54864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50" b="0" i="0" spc="80">
                <a:solidFill>
                  <a:srgbClr val="8C9AAF"/>
                </a:solidFill>
                <a:latin typeface="Calibri"/>
              </a:rPr>
              <a:t>7 / 11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6199632"/>
            <a:ext cx="11058113" cy="10972"/>
          </a:xfrm>
          <a:prstGeom prst="rect">
            <a:avLst/>
          </a:prstGeom>
          <a:solidFill>
            <a:srgbClr val="E3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7" name="Picture 6" descr="vizja_logo_light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6327648"/>
            <a:ext cx="1298448" cy="26901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430481" y="6345936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 spc="60" u="none">
                <a:solidFill>
                  <a:srgbClr val="8C9AAF"/>
                </a:solidFill>
                <a:latin typeface="Calibri"/>
                <a:hlinkClick r:id="rId3"/>
              </a:rPr>
              <a:t>www.vizja.pl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481328"/>
            <a:ext cx="3551925" cy="197510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66928" y="1481328"/>
            <a:ext cx="50292" cy="1975104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664208"/>
            <a:ext cx="309472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0F172A"/>
                </a:solidFill>
                <a:latin typeface="Calibri"/>
              </a:rPr>
              <a:t>User</a:t>
            </a:r>
            <a:r>
              <a:rPr sz="1000" b="0" i="1">
                <a:solidFill>
                  <a:srgbClr val="8C9AAF"/>
                </a:solidFill>
                <a:latin typeface="Calibri"/>
              </a:rPr>
              <a:t>   extends AbstractUser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084832"/>
            <a:ext cx="3094725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id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username · email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first_name · last_name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role → admin | teacher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password (PBKDF2)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is_active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20021" y="1481328"/>
            <a:ext cx="3551925" cy="197510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320021" y="1481328"/>
            <a:ext cx="50292" cy="1975104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6053" y="1664208"/>
            <a:ext cx="309472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0F172A"/>
                </a:solidFill>
                <a:latin typeface="Calibri"/>
              </a:rPr>
              <a:t>Student</a:t>
            </a:r>
            <a:r>
              <a:rPr sz="1000" b="0" i="1">
                <a:solidFill>
                  <a:srgbClr val="8C9AAF"/>
                </a:solidFill>
                <a:latin typeface="Calibri"/>
              </a:rPr>
              <a:t>   academic identity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6053" y="2084832"/>
            <a:ext cx="3094725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id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student_number (unique)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first_name · last_name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email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study_program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date_enrolled · is_active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73115" y="1481328"/>
            <a:ext cx="3551925" cy="197510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073115" y="1481328"/>
            <a:ext cx="50292" cy="1975104"/>
          </a:xfrm>
          <a:prstGeom prst="roundRect">
            <a:avLst>
              <a:gd name="adj" fmla="val 50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29147" y="1664208"/>
            <a:ext cx="309472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0F172A"/>
                </a:solidFill>
                <a:latin typeface="Calibri"/>
              </a:rPr>
              <a:t>Course</a:t>
            </a:r>
            <a:r>
              <a:rPr sz="1000" b="0" i="1">
                <a:solidFill>
                  <a:srgbClr val="8C9AAF"/>
                </a:solidFill>
                <a:latin typeface="Calibri"/>
              </a:rPr>
              <a:t>   taught unit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9147" y="2084832"/>
            <a:ext cx="3094725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id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course_code (unique)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course_name · description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semester · credits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max_students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teacher_id → User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3657600"/>
            <a:ext cx="3551925" cy="197510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66928" y="3657600"/>
            <a:ext cx="50292" cy="1975104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3840480"/>
            <a:ext cx="309472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0F172A"/>
                </a:solidFill>
                <a:latin typeface="Calibri"/>
              </a:rPr>
              <a:t>Enrollment</a:t>
            </a:r>
            <a:r>
              <a:rPr sz="1000" b="0" i="1">
                <a:solidFill>
                  <a:srgbClr val="8C9AAF"/>
                </a:solidFill>
                <a:latin typeface="Calibri"/>
              </a:rPr>
              <a:t>   student ⇄ course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4261104"/>
            <a:ext cx="3094725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id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student_id → Student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course_id → Course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enrollment_date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status → active | completed | dropped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unique (student, course)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20021" y="3657600"/>
            <a:ext cx="3551925" cy="197510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4320021" y="3657600"/>
            <a:ext cx="50292" cy="1975104"/>
          </a:xfrm>
          <a:prstGeom prst="roundRect">
            <a:avLst>
              <a:gd name="adj" fmla="val 50000"/>
            </a:avLst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6053" y="3840480"/>
            <a:ext cx="309472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0F172A"/>
                </a:solidFill>
                <a:latin typeface="Calibri"/>
              </a:rPr>
              <a:t>Grade</a:t>
            </a:r>
            <a:r>
              <a:rPr sz="1000" b="0" i="1">
                <a:solidFill>
                  <a:srgbClr val="8C9AAF"/>
                </a:solidFill>
                <a:latin typeface="Calibri"/>
              </a:rPr>
              <a:t>   weighted component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6053" y="4261104"/>
            <a:ext cx="3094725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id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enrollment_id → Enrollment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kind → coursework | midterm | final | retake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weight 1–100 %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grade_value 2.0 – 5.0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assigned_by → User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073115" y="3657600"/>
            <a:ext cx="3551925" cy="197510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8073115" y="3657600"/>
            <a:ext cx="50292" cy="1975104"/>
          </a:xfrm>
          <a:prstGeom prst="roundRect">
            <a:avLst>
              <a:gd name="adj" fmla="val 50000"/>
            </a:avLst>
          </a:prstGeom>
          <a:solidFill>
            <a:srgbClr val="DB27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329147" y="3840480"/>
            <a:ext cx="309472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0F172A"/>
                </a:solidFill>
                <a:latin typeface="Calibri"/>
              </a:rPr>
              <a:t>Attendance</a:t>
            </a:r>
            <a:r>
              <a:rPr sz="1000" b="0" i="1">
                <a:solidFill>
                  <a:srgbClr val="8C9AAF"/>
                </a:solidFill>
                <a:latin typeface="Calibri"/>
              </a:rPr>
              <a:t>   daily register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29147" y="4261104"/>
            <a:ext cx="3094725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id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enrollment_id → Enrollment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date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status → present | absent | late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notes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unique (enrollment, date)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6928" y="5888736"/>
            <a:ext cx="1105811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0F172A"/>
                </a:solidFill>
                <a:latin typeface="Calibri"/>
              </a:rPr>
              <a:t>Integrity where it belongs: </a:t>
            </a:r>
            <a:r>
              <a:rPr sz="1150" b="0" i="0">
                <a:solidFill>
                  <a:srgbClr val="475569"/>
                </a:solidFill>
                <a:latin typeface="Calibri"/>
              </a:rPr>
              <a:t>unique constraints, foreign keys and cascade rules live in the schema, so no interface path can create a duplicate enrollment or an orphaned grade.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566928"/>
            <a:ext cx="100584" cy="420624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7" y="50292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 spc="140">
                <a:solidFill>
                  <a:srgbClr val="2563EB"/>
                </a:solidFill>
                <a:latin typeface="Calibri"/>
              </a:rPr>
              <a:t>WHAT THE SYSTEM ACTUALLY DOES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7" y="758952"/>
            <a:ext cx="8778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0F172A"/>
                </a:solidFill>
                <a:latin typeface="Calibri"/>
              </a:rPr>
              <a:t>Key Features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96241" y="54864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50" b="0" i="0" spc="80">
                <a:solidFill>
                  <a:srgbClr val="8C9AAF"/>
                </a:solidFill>
                <a:latin typeface="Calibri"/>
              </a:rPr>
              <a:t>8 / 11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6199632"/>
            <a:ext cx="11058113" cy="10972"/>
          </a:xfrm>
          <a:prstGeom prst="rect">
            <a:avLst/>
          </a:prstGeom>
          <a:solidFill>
            <a:srgbClr val="E3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7" name="Picture 6" descr="vizja_logo_light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6327648"/>
            <a:ext cx="1298448" cy="26901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430481" y="6345936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 spc="60" u="none">
                <a:solidFill>
                  <a:srgbClr val="8C9AAF"/>
                </a:solidFill>
                <a:latin typeface="Calibri"/>
                <a:hlinkClick r:id="rId3"/>
              </a:rPr>
              <a:t>www.vizja.pl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481328"/>
            <a:ext cx="3551925" cy="204825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66928" y="1481328"/>
            <a:ext cx="3551925" cy="50292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755648"/>
            <a:ext cx="3039861" cy="159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450" b="1" i="0">
                <a:solidFill>
                  <a:srgbClr val="0F172A"/>
                </a:solidFill>
                <a:latin typeface="Calibri"/>
              </a:rPr>
              <a:t>Academic Records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30" b="0" i="0">
                <a:solidFill>
                  <a:srgbClr val="475569"/>
                </a:solidFill>
                <a:latin typeface="Calibri"/>
              </a:rPr>
              <a:t>CRUD for students, courses and enrollments. Administrators issue lecturer accounts on Teachers. Enrollment is refused once max_students is reached.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20021" y="1481328"/>
            <a:ext cx="3551925" cy="204825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320021" y="1481328"/>
            <a:ext cx="3551925" cy="50292"/>
          </a:xfrm>
          <a:prstGeom prst="roundRect">
            <a:avLst>
              <a:gd name="adj" fmla="val 50000"/>
            </a:avLst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6053" y="1755648"/>
            <a:ext cx="3039861" cy="159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450" b="1" i="0">
                <a:solidFill>
                  <a:srgbClr val="0F172A"/>
                </a:solidFill>
                <a:latin typeface="Calibri"/>
              </a:rPr>
              <a:t>Weighted Gradebook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30" b="0" i="0">
                <a:solidFill>
                  <a:srgbClr val="475569"/>
                </a:solidFill>
                <a:latin typeface="Calibri"/>
              </a:rPr>
              <a:t>Coursework, midterm, exam and retake — each with a weight. The course mark is their weighted mean. assigned_by records who last saved the component.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73115" y="1481328"/>
            <a:ext cx="3551925" cy="204825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73115" y="1481328"/>
            <a:ext cx="3551925" cy="50292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29147" y="1755648"/>
            <a:ext cx="3039861" cy="159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450" b="1" i="0">
                <a:solidFill>
                  <a:srgbClr val="0F172A"/>
                </a:solidFill>
                <a:latin typeface="Calibri"/>
              </a:rPr>
              <a:t>Attendance Register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30" b="0" i="0">
                <a:solidFill>
                  <a:srgbClr val="475569"/>
                </a:solidFill>
                <a:latin typeface="Calibri"/>
              </a:rPr>
              <a:t>Present, absent and late — one row per enrollment per day, enforced in the schema. Mark Class saves a whole roster in a single request.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3730752"/>
            <a:ext cx="3551925" cy="204825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66928" y="3730752"/>
            <a:ext cx="3551925" cy="50292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4005072"/>
            <a:ext cx="3039861" cy="159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450" b="1" i="0">
                <a:solidFill>
                  <a:srgbClr val="0F172A"/>
                </a:solidFill>
                <a:latin typeface="Calibri"/>
              </a:rPr>
              <a:t>Analytics &amp; Export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30" b="0" i="0">
                <a:solidFill>
                  <a:srgbClr val="475569"/>
                </a:solidFill>
                <a:latin typeface="Calibri"/>
              </a:rPr>
              <a:t>Four KPI tiles, three Chart.js views and JSON at /api/dashboard/. CSV export of students and grades is scoped to the caller's role.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20021" y="3730752"/>
            <a:ext cx="3551925" cy="204825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320021" y="3730752"/>
            <a:ext cx="3551925" cy="50292"/>
          </a:xfrm>
          <a:prstGeom prst="roundRect">
            <a:avLst>
              <a:gd name="adj" fmla="val 50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6053" y="4005072"/>
            <a:ext cx="3039861" cy="159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450" b="1" i="0">
                <a:solidFill>
                  <a:srgbClr val="0F172A"/>
                </a:solidFill>
                <a:latin typeface="Calibri"/>
              </a:rPr>
              <a:t>Role-Based Access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30" b="0" i="0">
                <a:solidFill>
                  <a:srgbClr val="475569"/>
                </a:solidFill>
                <a:latin typeface="Calibri"/>
              </a:rPr>
              <a:t>Administrators see the institution; teachers see only their courses. Decorators guard the route, querysets filter again — a guessed URL returns nothing.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73115" y="3730752"/>
            <a:ext cx="3551925" cy="204825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073115" y="3730752"/>
            <a:ext cx="3551925" cy="50292"/>
          </a:xfrm>
          <a:prstGeom prst="roundRect">
            <a:avLst>
              <a:gd name="adj" fmla="val 50000"/>
            </a:avLst>
          </a:prstGeom>
          <a:solidFill>
            <a:srgbClr val="DB27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29147" y="4005072"/>
            <a:ext cx="3039861" cy="159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450" b="1" i="0">
                <a:solidFill>
                  <a:srgbClr val="0F172A"/>
                </a:solidFill>
                <a:latin typeface="Calibri"/>
              </a:rPr>
              <a:t>i18n &amp; Quality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30" b="0" i="0">
                <a:solidFill>
                  <a:srgbClr val="475569"/>
                </a:solidFill>
                <a:latin typeface="Calibri"/>
              </a:rPr>
              <a:t>312 strings, English ⇄ Polish, locale-aware dates. 96 automated tests and four CI gates (tests, migrations, deploy check, collectstatic) on every push.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566928"/>
            <a:ext cx="100584" cy="420624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7" y="50292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 spc="140">
                <a:solidFill>
                  <a:srgbClr val="2563EB"/>
                </a:solidFill>
                <a:latin typeface="Calibri"/>
              </a:rPr>
              <a:t>THE RUNNING INTERFACE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7" y="758952"/>
            <a:ext cx="8778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0F172A"/>
                </a:solidFill>
                <a:latin typeface="Calibri"/>
              </a:rPr>
              <a:t>Application Screenshots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96241" y="54864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50" b="0" i="0" spc="80">
                <a:solidFill>
                  <a:srgbClr val="8C9AAF"/>
                </a:solidFill>
                <a:latin typeface="Calibri"/>
              </a:rPr>
              <a:t>9 / 11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6199632"/>
            <a:ext cx="11058113" cy="10972"/>
          </a:xfrm>
          <a:prstGeom prst="rect">
            <a:avLst/>
          </a:prstGeom>
          <a:solidFill>
            <a:srgbClr val="E3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7" name="Picture 6" descr="vizja_logo_light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6327648"/>
            <a:ext cx="1298448" cy="26901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430481" y="6345936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 spc="60" u="none">
                <a:solidFill>
                  <a:srgbClr val="8C9AAF"/>
                </a:solidFill>
                <a:latin typeface="Calibri"/>
                <a:hlinkClick r:id="rId3"/>
              </a:rPr>
              <a:t>www.vizja.pl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16635" y="1632204"/>
            <a:ext cx="3246494" cy="206677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10" name="Picture 9" descr="dashboard-ligh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6928" y="1682496"/>
            <a:ext cx="3145910" cy="196619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66928" y="3776706"/>
            <a:ext cx="314591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 spc="50">
                <a:solidFill>
                  <a:srgbClr val="8C9AAF"/>
                </a:solidFill>
                <a:latin typeface="Calibri"/>
              </a:rPr>
              <a:t>Dashboard — KPI tiles and three Chart.js views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900290" y="1632204"/>
            <a:ext cx="3246494" cy="206677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13" name="Picture 12" descr="students-lis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50582" y="1682496"/>
            <a:ext cx="3145910" cy="196619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950582" y="3776706"/>
            <a:ext cx="314591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 spc="50">
                <a:solidFill>
                  <a:srgbClr val="8C9AAF"/>
                </a:solidFill>
                <a:latin typeface="Calibri"/>
              </a:rPr>
              <a:t>Student register — search, filters, pagination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283945" y="1632204"/>
            <a:ext cx="3246494" cy="206677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16" name="Picture 15" descr="attendance-mark-clas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34237" y="1682496"/>
            <a:ext cx="3145910" cy="196619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334237" y="3776706"/>
            <a:ext cx="314591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 spc="50">
                <a:solidFill>
                  <a:srgbClr val="8C9AAF"/>
                </a:solidFill>
                <a:latin typeface="Calibri"/>
              </a:rPr>
              <a:t>Mark Class — a whole roster saved in one request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667599" y="1632204"/>
            <a:ext cx="1007733" cy="206677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19" name="Picture 18" descr="dashboard-mobil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717891" y="1682496"/>
            <a:ext cx="907149" cy="196619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0306411" y="3776706"/>
            <a:ext cx="173010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000" b="0" i="0">
                <a:solidFill>
                  <a:srgbClr val="8C9AAF"/>
                </a:solidFill>
                <a:latin typeface="Calibri"/>
              </a:rPr>
              <a:t>Responsive</a:t>
            </a:r>
          </a:p>
          <a:p>
            <a:pPr algn="ctr">
              <a:spcAft>
                <a:spcPts val="0"/>
              </a:spcAft>
            </a:pPr>
            <a:r>
              <a:rPr sz="1000" b="0" i="0">
                <a:solidFill>
                  <a:srgbClr val="8C9AAF"/>
                </a:solidFill>
                <a:latin typeface="Calibri"/>
              </a:rPr>
              <a:t>down to 375 px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5559552"/>
            <a:ext cx="11058113" cy="512064"/>
          </a:xfrm>
          <a:prstGeom prst="roundRect">
            <a:avLst>
              <a:gd name="adj" fmla="val 9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77824" y="5614416"/>
            <a:ext cx="10436321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Every table is role-aware: </a:t>
            </a:r>
            <a:r>
              <a:rPr sz="1200" b="0" i="0">
                <a:solidFill>
                  <a:srgbClr val="D6DFEC"/>
                </a:solidFill>
                <a:latin typeface="Calibri"/>
              </a:rPr>
              <a:t>a teacher opening the same page sees only students in their own courses, and the action buttons disappear.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566928"/>
            <a:ext cx="100584" cy="420624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7" y="50292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 spc="140">
                <a:solidFill>
                  <a:srgbClr val="2563EB"/>
                </a:solidFill>
                <a:latin typeface="Calibri"/>
              </a:rPr>
              <a:t>IN PRODUCTION, NOT ON A LAPTOP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7" y="758952"/>
            <a:ext cx="8778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0F172A"/>
                </a:solidFill>
                <a:latin typeface="Calibri"/>
              </a:rPr>
              <a:t>Deployment &amp; 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96241" y="54864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50" b="0" i="0" spc="80">
                <a:solidFill>
                  <a:srgbClr val="8C9AAF"/>
                </a:solidFill>
                <a:latin typeface="Calibri"/>
              </a:rPr>
              <a:t>10 / 11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6199632"/>
            <a:ext cx="11058113" cy="10972"/>
          </a:xfrm>
          <a:prstGeom prst="rect">
            <a:avLst/>
          </a:prstGeom>
          <a:solidFill>
            <a:srgbClr val="E3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7" name="Picture 6" descr="vizja_logo_light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6327648"/>
            <a:ext cx="1298448" cy="26901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430481" y="6345936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 spc="60" u="none">
                <a:solidFill>
                  <a:srgbClr val="8C9AAF"/>
                </a:solidFill>
                <a:latin typeface="Calibri"/>
                <a:hlinkClick r:id="rId3"/>
              </a:rPr>
              <a:t>www.vizja.pl</a:t>
            </a:r>
          </a:p>
        </p:txBody>
      </p:sp>
      <p:sp>
        <p:nvSpPr>
          <p:cNvPr id="9" name="Rounded Rectangle 8">
            <a:hlinkClick r:id="rId4"/>
          </p:cNvPr>
          <p:cNvSpPr/>
          <p:nvPr/>
        </p:nvSpPr>
        <p:spPr>
          <a:xfrm>
            <a:off x="566928" y="1481328"/>
            <a:ext cx="5623560" cy="566928"/>
          </a:xfrm>
          <a:prstGeom prst="roundRect">
            <a:avLst>
              <a:gd name="adj" fmla="val 14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86384" y="1655064"/>
            <a:ext cx="146304" cy="146304"/>
          </a:xfrm>
          <a:prstGeom prst="ellipse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2416" y="1536192"/>
            <a:ext cx="49834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 spc="140">
                <a:solidFill>
                  <a:srgbClr val="16A34A"/>
                </a:solidFill>
                <a:latin typeface="Calibri"/>
              </a:rPr>
              <a:t>LIVE   </a:t>
            </a:r>
            <a:r>
              <a:rPr sz="1150" b="1" i="0" u="none">
                <a:solidFill>
                  <a:srgbClr val="FFFFFF"/>
                </a:solidFill>
                <a:latin typeface="Calibri"/>
                <a:hlinkClick r:id="rId4"/>
              </a:rPr>
              <a:t>https://thesms.me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91656" y="1481328"/>
            <a:ext cx="5233385" cy="5669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6248" y="1554480"/>
            <a:ext cx="4904201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1" i="0" spc="80">
                <a:solidFill>
                  <a:srgbClr val="8C9AAF"/>
                </a:solidFill>
                <a:latin typeface="Calibri"/>
              </a:rPr>
              <a:t>DEFENCE LOGIN  (teacher)</a:t>
            </a:r>
          </a:p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0F172A"/>
                </a:solidFill>
                <a:latin typeface="Calibri"/>
              </a:rPr>
              <a:t>prof.martinez  /  demo1234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2194560"/>
            <a:ext cx="2065318" cy="7863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66928" y="2395728"/>
            <a:ext cx="50292" cy="384048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7" y="2377440"/>
            <a:ext cx="1608118" cy="4206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1" i="0">
                <a:solidFill>
                  <a:srgbClr val="2563EB"/>
                </a:solidFill>
                <a:latin typeface="Calibri"/>
              </a:rPr>
              <a:t>25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475569"/>
                </a:solidFill>
                <a:latin typeface="Calibri"/>
              </a:rPr>
              <a:t>students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815126" y="2194560"/>
            <a:ext cx="2065318" cy="7863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2815126" y="2395728"/>
            <a:ext cx="50292" cy="384048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089446" y="2377440"/>
            <a:ext cx="1608118" cy="4206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1" i="0">
                <a:solidFill>
                  <a:srgbClr val="7C3AED"/>
                </a:solidFill>
                <a:latin typeface="Calibri"/>
              </a:rPr>
              <a:t>8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475569"/>
                </a:solidFill>
                <a:latin typeface="Calibri"/>
              </a:rPr>
              <a:t>courses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63325" y="2194560"/>
            <a:ext cx="2065318" cy="7863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063325" y="2395728"/>
            <a:ext cx="50292" cy="384048"/>
          </a:xfrm>
          <a:prstGeom prst="roundRect">
            <a:avLst>
              <a:gd name="adj" fmla="val 50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337645" y="2377440"/>
            <a:ext cx="1608118" cy="4206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1" i="0">
                <a:solidFill>
                  <a:srgbClr val="0D9488"/>
                </a:solidFill>
                <a:latin typeface="Calibri"/>
              </a:rPr>
              <a:t>87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475569"/>
                </a:solidFill>
                <a:latin typeface="Calibri"/>
              </a:rPr>
              <a:t>enrollment records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11524" y="2194560"/>
            <a:ext cx="2065318" cy="7863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311524" y="2395728"/>
            <a:ext cx="50292" cy="384048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585844" y="2377440"/>
            <a:ext cx="1608118" cy="4206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1" i="0">
                <a:solidFill>
                  <a:srgbClr val="D97706"/>
                </a:solidFill>
                <a:latin typeface="Calibri"/>
              </a:rPr>
              <a:t>87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475569"/>
                </a:solidFill>
                <a:latin typeface="Calibri"/>
              </a:rPr>
              <a:t>grades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559722" y="2194560"/>
            <a:ext cx="2065318" cy="7863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559722" y="2395728"/>
            <a:ext cx="50292" cy="384048"/>
          </a:xfrm>
          <a:prstGeom prst="roundRect">
            <a:avLst>
              <a:gd name="adj" fmla="val 50000"/>
            </a:avLst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834042" y="2377440"/>
            <a:ext cx="1608118" cy="4206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1" i="0">
                <a:solidFill>
                  <a:srgbClr val="16A34A"/>
                </a:solidFill>
                <a:latin typeface="Calibri"/>
              </a:rPr>
              <a:t>€0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475569"/>
                </a:solidFill>
                <a:latin typeface="Calibri"/>
              </a:rPr>
              <a:t>monthly cost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66928" y="3145536"/>
            <a:ext cx="5401040" cy="24871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566928" y="3145536"/>
            <a:ext cx="5401040" cy="50292"/>
          </a:xfrm>
          <a:prstGeom prst="roundRect">
            <a:avLst>
              <a:gd name="adj" fmla="val 50000"/>
            </a:avLst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960" y="3419856"/>
            <a:ext cx="49438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 spc="120">
                <a:solidFill>
                  <a:srgbClr val="16A34A"/>
                </a:solidFill>
                <a:latin typeface="Calibri"/>
              </a:rPr>
              <a:t>DELIVERED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" y="3749040"/>
            <a:ext cx="4888976" cy="4206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160" b="1" i="0">
                <a:solidFill>
                  <a:srgbClr val="B4C0D0"/>
                </a:solidFill>
                <a:latin typeface="Calibri"/>
              </a:rPr>
              <a:t>—  </a:t>
            </a:r>
            <a:r>
              <a:rPr sz="1160" b="1" i="0">
                <a:solidFill>
                  <a:srgbClr val="0F172A"/>
                </a:solidFill>
                <a:latin typeface="Calibri"/>
              </a:rPr>
              <a:t>Live on Render + Neon — </a:t>
            </a:r>
            <a:r>
              <a:rPr sz="1160" b="0" i="0">
                <a:solidFill>
                  <a:srgbClr val="475569"/>
                </a:solidFill>
                <a:latin typeface="Calibri"/>
              </a:rPr>
              <a:t>HTTPS, HSTS, managed PostgreSQL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160" b="1" i="0">
                <a:solidFill>
                  <a:srgbClr val="B4C0D0"/>
                </a:solidFill>
                <a:latin typeface="Calibri"/>
              </a:rPr>
              <a:t>—  </a:t>
            </a:r>
            <a:r>
              <a:rPr sz="1160" b="1" i="0">
                <a:solidFill>
                  <a:srgbClr val="0F172A"/>
                </a:solidFill>
                <a:latin typeface="Calibri"/>
              </a:rPr>
              <a:t>Six-model schema — </a:t>
            </a:r>
            <a:r>
              <a:rPr sz="1160" b="0" i="0">
                <a:solidFill>
                  <a:srgbClr val="475569"/>
                </a:solidFill>
                <a:latin typeface="Calibri"/>
              </a:rPr>
              <a:t>constraints and an audit trail in the database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160" b="1" i="0">
                <a:solidFill>
                  <a:srgbClr val="B4C0D0"/>
                </a:solidFill>
                <a:latin typeface="Calibri"/>
              </a:rPr>
              <a:t>—  </a:t>
            </a:r>
            <a:r>
              <a:rPr sz="1160" b="1" i="0">
                <a:solidFill>
                  <a:srgbClr val="0F172A"/>
                </a:solidFill>
                <a:latin typeface="Calibri"/>
              </a:rPr>
              <a:t>Role isolation — </a:t>
            </a:r>
            <a:r>
              <a:rPr sz="1160" b="0" i="0">
                <a:solidFill>
                  <a:srgbClr val="475569"/>
                </a:solidFill>
                <a:latin typeface="Calibri"/>
              </a:rPr>
              <a:t>admins and teachers see strictly their own data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160" b="1" i="0">
                <a:solidFill>
                  <a:srgbClr val="B4C0D0"/>
                </a:solidFill>
                <a:latin typeface="Calibri"/>
              </a:rPr>
              <a:t>—  </a:t>
            </a:r>
            <a:r>
              <a:rPr sz="1160" b="1" i="0">
                <a:solidFill>
                  <a:srgbClr val="0F172A"/>
                </a:solidFill>
                <a:latin typeface="Calibri"/>
              </a:rPr>
              <a:t>Bilingual interface — </a:t>
            </a:r>
            <a:r>
              <a:rPr sz="1160" b="0" i="0">
                <a:solidFill>
                  <a:srgbClr val="475569"/>
                </a:solidFill>
                <a:latin typeface="Calibri"/>
              </a:rPr>
              <a:t>312 strings, locale-aware dates and numbers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160" b="1" i="0">
                <a:solidFill>
                  <a:srgbClr val="B4C0D0"/>
                </a:solidFill>
                <a:latin typeface="Calibri"/>
              </a:rPr>
              <a:t>—  </a:t>
            </a:r>
            <a:r>
              <a:rPr sz="1160" b="1" i="0">
                <a:solidFill>
                  <a:srgbClr val="0F172A"/>
                </a:solidFill>
                <a:latin typeface="Calibri"/>
              </a:rPr>
              <a:t>96 tests, four CI gates — </a:t>
            </a:r>
            <a:r>
              <a:rPr sz="1160" b="0" i="0">
                <a:solidFill>
                  <a:srgbClr val="475569"/>
                </a:solidFill>
                <a:latin typeface="Calibri"/>
              </a:rPr>
              <a:t>green on every push, then build.sh deploys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224000" y="3145536"/>
            <a:ext cx="5401040" cy="24871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6224000" y="3145536"/>
            <a:ext cx="5401040" cy="50292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80032" y="3419856"/>
            <a:ext cx="49438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 spc="120">
                <a:solidFill>
                  <a:srgbClr val="2563EB"/>
                </a:solidFill>
                <a:latin typeface="Calibri"/>
              </a:rPr>
              <a:t>FUTURE WORK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80032" y="3749040"/>
            <a:ext cx="4888976" cy="4206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160" b="1" i="0">
                <a:solidFill>
                  <a:srgbClr val="B4C0D0"/>
                </a:solidFill>
                <a:latin typeface="Calibri"/>
              </a:rPr>
              <a:t>—  </a:t>
            </a:r>
            <a:r>
              <a:rPr sz="1160" b="1" i="0">
                <a:solidFill>
                  <a:srgbClr val="0F172A"/>
                </a:solidFill>
                <a:latin typeface="Calibri"/>
              </a:rPr>
              <a:t>Student portal — </a:t>
            </a:r>
            <a:r>
              <a:rPr sz="1160" b="0" i="0">
                <a:solidFill>
                  <a:srgbClr val="475569"/>
                </a:solidFill>
                <a:latin typeface="Calibri"/>
              </a:rPr>
              <a:t>a third role with read-only access to own results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160" b="1" i="0">
                <a:solidFill>
                  <a:srgbClr val="B4C0D0"/>
                </a:solidFill>
                <a:latin typeface="Calibri"/>
              </a:rPr>
              <a:t>—  </a:t>
            </a:r>
            <a:r>
              <a:rPr sz="1160" b="1" i="0">
                <a:solidFill>
                  <a:srgbClr val="0F172A"/>
                </a:solidFill>
                <a:latin typeface="Calibri"/>
              </a:rPr>
              <a:t>Semester transcripts — </a:t>
            </a:r>
            <a:r>
              <a:rPr sz="1160" b="0" i="0">
                <a:solidFill>
                  <a:srgbClr val="475569"/>
                </a:solidFill>
                <a:latin typeface="Calibri"/>
              </a:rPr>
              <a:t>generated PDF reports per student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160" b="1" i="0">
                <a:solidFill>
                  <a:srgbClr val="B4C0D0"/>
                </a:solidFill>
                <a:latin typeface="Calibri"/>
              </a:rPr>
              <a:t>—  </a:t>
            </a:r>
            <a:r>
              <a:rPr sz="1160" b="1" i="0">
                <a:solidFill>
                  <a:srgbClr val="0F172A"/>
                </a:solidFill>
                <a:latin typeface="Calibri"/>
              </a:rPr>
              <a:t>Email notifications — </a:t>
            </a:r>
            <a:r>
              <a:rPr sz="1160" b="0" i="0">
                <a:solidFill>
                  <a:srgbClr val="475569"/>
                </a:solidFill>
                <a:latin typeface="Calibri"/>
              </a:rPr>
              <a:t>alerts on new grades and absences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160" b="1" i="0">
                <a:solidFill>
                  <a:srgbClr val="B4C0D0"/>
                </a:solidFill>
                <a:latin typeface="Calibri"/>
              </a:rPr>
              <a:t>—  </a:t>
            </a:r>
            <a:r>
              <a:rPr sz="1160" b="1" i="0">
                <a:solidFill>
                  <a:srgbClr val="0F172A"/>
                </a:solidFill>
                <a:latin typeface="Calibri"/>
              </a:rPr>
              <a:t>Documented REST API — </a:t>
            </a:r>
            <a:r>
              <a:rPr sz="1160" b="0" i="0">
                <a:solidFill>
                  <a:srgbClr val="475569"/>
                </a:solidFill>
                <a:latin typeface="Calibri"/>
              </a:rPr>
              <a:t>token-authenticated public interface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160" b="1" i="0">
                <a:solidFill>
                  <a:srgbClr val="B4C0D0"/>
                </a:solidFill>
                <a:latin typeface="Calibri"/>
              </a:rPr>
              <a:t>—  </a:t>
            </a:r>
            <a:r>
              <a:rPr sz="1160" b="1" i="0">
                <a:solidFill>
                  <a:srgbClr val="0F172A"/>
                </a:solidFill>
                <a:latin typeface="Calibri"/>
              </a:rPr>
              <a:t>Two-factor login — </a:t>
            </a:r>
            <a:r>
              <a:rPr sz="1160" b="0" i="0">
                <a:solidFill>
                  <a:srgbClr val="475569"/>
                </a:solidFill>
                <a:latin typeface="Calibri"/>
              </a:rPr>
              <a:t>TOTP for administrator accounts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412480" y="-1280160"/>
            <a:ext cx="5852160" cy="5852160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2487168"/>
            <a:ext cx="100584" cy="91440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77824" y="2432304"/>
            <a:ext cx="85953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Thank you for your attention</a:t>
            </a:r>
          </a:p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B4C0D0"/>
                </a:solidFill>
                <a:latin typeface="Calibri"/>
              </a:rPr>
              <a:t>Questions are welcome.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3986784"/>
            <a:ext cx="7223760" cy="10972"/>
          </a:xfrm>
          <a:prstGeom prst="rect">
            <a:avLst/>
          </a:prstGeom>
          <a:solidFill>
            <a:srgbClr val="2C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4224528"/>
            <a:ext cx="5486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Maksym Shpak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8C9AAF"/>
                </a:solidFill>
                <a:latin typeface="Calibri"/>
              </a:rPr>
              <a:t>Computer Science · Index: 45567</a:t>
            </a:r>
          </a:p>
          <a:p>
            <a:pPr algn="l">
              <a:spcAft>
                <a:spcPts val="0"/>
              </a:spcAft>
            </a:pPr>
            <a:r>
              <a:rPr sz="1150" b="1" i="0" u="none">
                <a:solidFill>
                  <a:srgbClr val="2563EB"/>
                </a:solidFill>
                <a:latin typeface="Calibri"/>
                <a:hlinkClick r:id="rId2"/>
              </a:rPr>
              <a:t>https://thesms.me</a:t>
            </a:r>
          </a:p>
        </p:txBody>
      </p:sp>
      <p:pic>
        <p:nvPicPr>
          <p:cNvPr id="7" name="Picture 6" descr="vizja_logo_dark_vertical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9640" y="4160520"/>
            <a:ext cx="2926080" cy="131108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430481" y="6345936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 spc="60" u="none">
                <a:solidFill>
                  <a:srgbClr val="B4C0D0"/>
                </a:solidFill>
                <a:latin typeface="Calibri"/>
                <a:hlinkClick r:id="rId4"/>
              </a:rPr>
              <a:t>www.vizja.pl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