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vizja.pl" TargetMode="External"/><Relationship Id="rId4" Type="http://schemas.openxmlformats.org/officeDocument/2006/relationships/hyperlink" Target="https://thesms.m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ja.pl" TargetMode="External"/><Relationship Id="rId4" Type="http://schemas.openxmlformats.org/officeDocument/2006/relationships/hyperlink" Target="https://thesms.m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hesms.me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s://www.vizja.p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-1005840"/>
            <a:ext cx="6035040" cy="60350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64040" y="320040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18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00584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vizja_logo_dark_vertical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572768"/>
            <a:ext cx="3246120" cy="1454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" y="131673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40">
                <a:solidFill>
                  <a:srgbClr val="B4C0D0"/>
                </a:solidFill>
                <a:latin typeface="Calibri"/>
              </a:rPr>
              <a:t>UNIWERSYTET VIZJA  ·  SCHOOL OF COMPUTER SCIENCE &amp;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700784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FFFFFF"/>
                </a:solidFill>
                <a:latin typeface="Calibri"/>
              </a:rPr>
              <a:t>Design and Implementation of 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Web-Based Student Management System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FFFFFF"/>
                </a:solidFill>
                <a:latin typeface="Calibri"/>
              </a:rPr>
              <a:t>for Educational Institutions</a:t>
            </a:r>
          </a:p>
        </p:txBody>
      </p:sp>
      <p:sp>
        <p:nvSpPr>
          <p:cNvPr id="8" name="Rounded Rectangle 7">
            <a:hlinkClick r:id="rId4"/>
          </p:cNvPr>
          <p:cNvSpPr/>
          <p:nvPr/>
        </p:nvSpPr>
        <p:spPr>
          <a:xfrm>
            <a:off x="859536" y="3785615"/>
            <a:ext cx="5806440" cy="40233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840480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40">
                <a:solidFill>
                  <a:srgbClr val="FFFFFF"/>
                </a:solidFill>
                <a:latin typeface="Calibri"/>
              </a:rPr>
              <a:t>LIVE   </a:t>
            </a:r>
            <a:r>
              <a:rPr sz="1150" b="1" i="0" u="none">
                <a:solidFill>
                  <a:srgbClr val="FFFFFF"/>
                </a:solidFill>
                <a:latin typeface="Calibri"/>
                <a:hlinkClick r:id="rId4"/>
              </a:rPr>
              <a:t>https://thesms.me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956048"/>
            <a:ext cx="7223760" cy="10972"/>
          </a:xfrm>
          <a:prstGeom prst="rect">
            <a:avLst/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175504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20">
                <a:solidFill>
                  <a:srgbClr val="2563EB"/>
                </a:solidFill>
                <a:latin typeface="Calibri"/>
              </a:rPr>
              <a:t>STUDENT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Maksym Shpak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9AAF"/>
                </a:solidFill>
                <a:latin typeface="Calibri"/>
              </a:rPr>
              <a:t>Index: 45567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5175504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20">
                <a:solidFill>
                  <a:srgbClr val="2563EB"/>
                </a:solidFill>
                <a:latin typeface="Calibri"/>
              </a:rPr>
              <a:t>SUPERVISOR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Marcin Kacprowicz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9AAF"/>
                </a:solidFill>
                <a:latin typeface="Calibri"/>
              </a:rPr>
              <a:t>Diploma 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5175504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20">
                <a:solidFill>
                  <a:srgbClr val="2563EB"/>
                </a:solidFill>
                <a:latin typeface="Calibri"/>
              </a:rPr>
              <a:t>FIELD OF STUDY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Computer Science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9AAF"/>
                </a:solidFill>
                <a:latin typeface="Calibri"/>
              </a:rPr>
              <a:t>Engineering degree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B4C0D0"/>
                </a:solidFill>
                <a:latin typeface="Calibri"/>
                <a:hlinkClick r:id="rId3"/>
              </a:rPr>
              <a:t>www.vizja.pl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WHAT THIS DEFENCE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2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54480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Problem Statement &amp; Purpose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Spreadsheets, paper registers, no audit trail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05456"/>
            <a:ext cx="5346176" cy="7315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706624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670048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Comparative Analysis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Moodle, USOS, Google Classroom — and the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621024"/>
            <a:ext cx="5346176" cy="7315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82219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785616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Technology Stack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Django 6, Python 3.12, PostgreSQL 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736592"/>
            <a:ext cx="5346176" cy="7315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93776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901184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Browser › Render TLS › Gunicorn ›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64" y="1591056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5792" y="1554480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Database Design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6 models, 6 migrations, constraints in the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8864" y="2505456"/>
            <a:ext cx="5346176" cy="7315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864" y="2706624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5792" y="2670048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Key Features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Weighted grades, RBAC, EN/PL, 96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864" y="3621024"/>
            <a:ext cx="5346176" cy="7315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8864" y="382219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792" y="3785616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Application Screenshots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Dashboard, student records, mobile layout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8864" y="4736592"/>
            <a:ext cx="5346176" cy="7315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864" y="493776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5792" y="4901184"/>
            <a:ext cx="4779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Deployment &amp; Results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Live on Render + Neon, then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WHY THIS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Problem Statement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5192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82496"/>
            <a:ext cx="50292" cy="6217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664208"/>
            <a:ext cx="309472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3 places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spreadsheet, paper register
and email 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21" y="1481328"/>
            <a:ext cx="355192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021" y="1682496"/>
            <a:ext cx="50292" cy="6217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4341" y="1664208"/>
            <a:ext cx="309472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D97706"/>
                </a:solidFill>
                <a:latin typeface="Calibri"/>
              </a:rPr>
              <a:t>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audit trail of who entered
or edited a 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3115" y="1481328"/>
            <a:ext cx="355192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3115" y="1682496"/>
            <a:ext cx="50292" cy="621792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7435" y="1664208"/>
            <a:ext cx="309472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DB2777"/>
                </a:solidFill>
                <a:latin typeface="Calibri"/>
              </a:rPr>
              <a:t>by hand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every average and every
attendance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06624"/>
            <a:ext cx="5401040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706624"/>
            <a:ext cx="5401040" cy="50292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80944"/>
            <a:ext cx="494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DB2777"/>
                </a:solidFill>
                <a:latin typeface="Calibri"/>
              </a:rPr>
              <a:t>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10128"/>
            <a:ext cx="488897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Fragmented records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spreadsheets, paper registers, email threads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No single view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grades and attendance never meet in one place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Manual arithmetic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averages recalculated by hand, errors slip through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No accountability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nobody can prove who recorded a mark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No confidentiality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every teacher can see every student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No Polish interface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staff work in English-only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4000" y="2706624"/>
            <a:ext cx="5401040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4000" y="2706624"/>
            <a:ext cx="5401040" cy="502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32" y="2980944"/>
            <a:ext cx="494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16A34A"/>
                </a:solidFill>
                <a:latin typeface="Calibri"/>
              </a:rPr>
              <a:t>THE 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32" y="3310128"/>
            <a:ext cx="488897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One source of truth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a relational schema with enforced constraints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Instant analytics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KPI tiles and three charts from ORM aggregation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Automatic authorship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every grade stores who assigned it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Scoped visibility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teachers see their own courses, admins see all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Bilingual by design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the whole interface switches EN ⇄ PL</a:t>
            </a:r>
          </a:p>
          <a:p>
            <a:pPr algn="l">
              <a:lnSpc>
                <a:spcPct val="116000"/>
              </a:lnSpc>
              <a:spcAft>
                <a:spcPts val="760"/>
              </a:spcAft>
            </a:pPr>
            <a:r>
              <a:rPr sz="122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220" b="1" i="0">
                <a:solidFill>
                  <a:srgbClr val="0F172A"/>
                </a:solidFill>
                <a:latin typeface="Calibri"/>
              </a:rPr>
              <a:t>Deployable — </a:t>
            </a:r>
            <a:r>
              <a:rPr sz="1220" b="0" i="0">
                <a:solidFill>
                  <a:srgbClr val="475569"/>
                </a:solidFill>
                <a:latin typeface="Calibri"/>
              </a:rPr>
              <a:t>one build script, HTTPS, managed PostgreSQL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449824"/>
            <a:ext cx="11058113" cy="566928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504688"/>
            <a:ext cx="104363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Result: </a:t>
            </a:r>
            <a:r>
              <a:rPr sz="1250" b="0" i="0">
                <a:solidFill>
                  <a:srgbClr val="D6DFEC"/>
                </a:solidFill>
                <a:latin typeface="Calibri"/>
              </a:rPr>
              <a:t>one auditable, role-aware platform now managing 25 students, 8 courses, 87 enrollment records — 51 of them active — and 87 grades in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EXISTING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26464"/>
          <a:ext cx="11055095" cy="3963924"/>
        </p:xfrm>
        <a:graphic>
          <a:graphicData uri="http://schemas.openxmlformats.org/drawingml/2006/table">
            <a:tbl>
              <a:tblPr firstRow="0" bandRow="0"/>
              <a:tblGrid>
                <a:gridCol w="2084831"/>
                <a:gridCol w="1975104"/>
                <a:gridCol w="1975104"/>
                <a:gridCol w="2157984"/>
                <a:gridCol w="286207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50" b="1" i="0" spc="9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146304" marR="109728" marT="64008" marB="6400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50" b="1" i="0" spc="90">
                          <a:solidFill>
                            <a:srgbClr val="FFFFFF"/>
                          </a:solidFill>
                          <a:latin typeface="Calibri"/>
                        </a:rPr>
                        <a:t>MOODLE</a:t>
                      </a:r>
                    </a:p>
                  </a:txBody>
                  <a:tcPr marL="146304" marR="109728" marT="64008" marB="6400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50" b="1" i="0" spc="90">
                          <a:solidFill>
                            <a:srgbClr val="FFFFFF"/>
                          </a:solidFill>
                          <a:latin typeface="Calibri"/>
                        </a:rPr>
                        <a:t>USOS</a:t>
                      </a:r>
                    </a:p>
                  </a:txBody>
                  <a:tcPr marL="146304" marR="109728" marT="64008" marB="6400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50" b="1" i="0" spc="90">
                          <a:solidFill>
                            <a:srgbClr val="FFFFFF"/>
                          </a:solidFill>
                          <a:latin typeface="Calibri"/>
                        </a:rPr>
                        <a:t>GOOGLE CLASSROOM</a:t>
                      </a:r>
                    </a:p>
                  </a:txBody>
                  <a:tcPr marL="146304" marR="109728" marT="64008" marB="6400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50" b="1" i="0" spc="90">
                          <a:solidFill>
                            <a:srgbClr val="FFFFFF"/>
                          </a:solidFill>
                          <a:latin typeface="Calibri"/>
                        </a:rPr>
                        <a:t>SMS — THIS PROJECT</a:t>
                      </a:r>
                    </a:p>
                  </a:txBody>
                  <a:tcPr marL="146304" marR="109728" marT="64008" marB="64008" anchor="ctr">
                    <a:solidFill>
                      <a:srgbClr val="0F172A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Target user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Large universities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Polish public HEIs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Schools and courses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Departments and small institutions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Self-hosted, heavy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Vendor-managed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Google cloud only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Self-hosted, one Django app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Setup effort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Days of plugin work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Institutional contract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Minutes, no control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Minutes — a single build script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Gradebook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Yes, complex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Weighted components + author audit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Attendance register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Plugin required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Built in, three statuses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Role isolation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Configurable, intricate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Enforced at queryset level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Bilingual EN / PL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Language packs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Polish-first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Native, 312 strings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Reports plugin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Institutional reports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Chart.js dashboard + CSV</a:t>
                      </a:r>
                    </a:p>
                  </a:txBody>
                  <a:tcPr marL="146304" marR="109728" marT="64008" marB="64008" anchor="ctr">
                    <a:solidFill>
                      <a:srgbClr val="F2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0F172A"/>
                          </a:solidFill>
                          <a:latin typeface="Calibri"/>
                        </a:rPr>
                        <a:t>Cost of ownership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GPL + hosting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Licensed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0" i="0">
                          <a:solidFill>
                            <a:srgbClr val="475569"/>
                          </a:solidFill>
                          <a:latin typeface="Calibri"/>
                        </a:rPr>
                        <a:t>Free, data in Google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19" b="1" i="0">
                          <a:solidFill>
                            <a:srgbClr val="2563EB"/>
                          </a:solidFill>
                          <a:latin typeface="Calibri"/>
                        </a:rPr>
                        <a:t>Open source, €0 hosting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044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Positioning: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the established platforms are either too heavy or too closed for a single department; SMS trades breadth for a focused, auditable and fully self-hosted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CHOSEN FOR A MAINTAINABLE MONOLITH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51925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73936"/>
            <a:ext cx="300328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spc="130">
                <a:solidFill>
                  <a:srgbClr val="2563EB"/>
                </a:solidFill>
                <a:latin typeface="Calibri"/>
              </a:rPr>
              <a:t>BACKEND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9AAF"/>
                </a:solidFill>
                <a:latin typeface="Calibri"/>
              </a:rPr>
              <a:t>Runtime · data ·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42032"/>
            <a:ext cx="300328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Python 3.12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Django 6.0.6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PostgreSQL 16 (Neon)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SQLite 3 for development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Django session authentication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Custom user model with roles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Django ORM · 6 migrations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dj-database-url 2.1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21" y="1481328"/>
            <a:ext cx="3551925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21" y="1481328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4341" y="1773936"/>
            <a:ext cx="300328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spc="130">
                <a:solidFill>
                  <a:srgbClr val="7C3AED"/>
                </a:solidFill>
                <a:latin typeface="Calibri"/>
              </a:rPr>
              <a:t>FRONTEND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9AAF"/>
                </a:solidFill>
                <a:latin typeface="Calibri"/>
              </a:rPr>
              <a:t>Templates · charts · theming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341" y="2542032"/>
            <a:ext cx="300328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Django Templates · 30 files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Semantic HTML5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CSS custom properties · 1 945 lines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Vanilla JavaScript ES6 · 425 lines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Chart.js 4 — doughnut and bars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Turbo 8 page transitions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Bootstrap Icons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Light and dark themes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3115" y="1481328"/>
            <a:ext cx="3551925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3115" y="1481328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7435" y="1773936"/>
            <a:ext cx="300328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spc="130">
                <a:solidFill>
                  <a:srgbClr val="16A34A"/>
                </a:solidFill>
                <a:latin typeface="Calibri"/>
              </a:rPr>
              <a:t>INFRASTRUCTURE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9AAF"/>
                </a:solidFill>
                <a:latin typeface="Calibri"/>
              </a:rPr>
              <a:t>Hosting · operations ·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435" y="2542032"/>
            <a:ext cx="300328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Render web service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Neon managed PostgreSQL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Gunicorn 22 (WSGI)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WhiteNoise 6.6 static files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HTTPS with HSTS preload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GitHub Actions CI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Git version control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Zero CDN dependencies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59552"/>
            <a:ext cx="11058113" cy="530352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614416"/>
            <a:ext cx="10436321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build step, no separate API server. </a:t>
            </a:r>
            <a:r>
              <a:rPr sz="1200" b="0" i="0">
                <a:solidFill>
                  <a:srgbClr val="D6DFEC"/>
                </a:solidFill>
                <a:latin typeface="Calibri"/>
              </a:rPr>
              <a:t>Every asset is vendored locally, so the application runs and demonstrates fully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SERVER-RENDERED MTV MONOLITH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91056"/>
            <a:ext cx="257860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591056"/>
            <a:ext cx="2578608" cy="502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65376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30">
                <a:solidFill>
                  <a:srgbClr val="2563EB"/>
                </a:solidFill>
                <a:latin typeface="Calibri"/>
              </a:rPr>
              <a:t>CLIENT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Browser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HTML · CSS · ES6
Turbo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2139696"/>
            <a:ext cx="2296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3429" y="1591056"/>
            <a:ext cx="257860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3429" y="1591056"/>
            <a:ext cx="2578608" cy="502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1173" y="1865376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30">
                <a:solidFill>
                  <a:srgbClr val="0D9488"/>
                </a:solidFill>
                <a:latin typeface="Calibri"/>
              </a:rPr>
              <a:t>EDGE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Render · TLS 443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HTTPS, HSTS
static via WhiteNoise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1181" y="2139696"/>
            <a:ext cx="2296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931" y="1591056"/>
            <a:ext cx="257860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9931" y="1591056"/>
            <a:ext cx="2578608" cy="502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7675" y="1865376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30">
                <a:solidFill>
                  <a:srgbClr val="7C3AED"/>
                </a:solidFill>
                <a:latin typeface="Calibri"/>
              </a:rPr>
              <a:t>APPLICATION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Gunicorn + Django 6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URL › View › Template
ORM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7683" y="2139696"/>
            <a:ext cx="2296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4C0D0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6433" y="1591056"/>
            <a:ext cx="257860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46433" y="1591056"/>
            <a:ext cx="2578608" cy="502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4177" y="1865376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30">
                <a:solidFill>
                  <a:srgbClr val="16A34A"/>
                </a:solidFill>
                <a:latin typeface="Calibri"/>
              </a:rPr>
              <a:t>DATA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PostgreSQL 16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Neon managed
DATABASE_URL, one codebase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28416"/>
            <a:ext cx="11058113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50215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8C9AAF"/>
                </a:solidFill>
                <a:latin typeface="Calibri"/>
              </a:rPr>
              <a:t>REQUEST PIPELINE — MIDDLEWARE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7" y="3776472"/>
            <a:ext cx="790041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803904"/>
            <a:ext cx="7900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41017" y="3776472"/>
            <a:ext cx="714146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41017" y="3803904"/>
            <a:ext cx="71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Session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4892" y="3776472"/>
            <a:ext cx="486460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4892" y="3803904"/>
            <a:ext cx="4864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CSRF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61080" y="3776472"/>
            <a:ext cx="638251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61080" y="3803904"/>
            <a:ext cx="6382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Locale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09060" y="3776472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09060" y="3803904"/>
            <a:ext cx="9418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WhiteNoise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60620" y="3776472"/>
            <a:ext cx="1245412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60620" y="3803904"/>
            <a:ext cx="12454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Authentication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5760" y="3776472"/>
            <a:ext cx="1321308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5760" y="3803904"/>
            <a:ext cx="1321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Role decorators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46796" y="3776472"/>
            <a:ext cx="1397203" cy="274320"/>
          </a:xfrm>
          <a:prstGeom prst="roundRect">
            <a:avLst>
              <a:gd name="adj" fmla="val 40000"/>
            </a:avLst>
          </a:prstGeom>
          <a:solidFill>
            <a:srgbClr val="F6F8FB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6796" y="3803904"/>
            <a:ext cx="1397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Queryset scoping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35254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8C9AAF"/>
                </a:solidFill>
                <a:latin typeface="Calibri"/>
              </a:rPr>
              <a:t>SUPPORTING SERVICES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626864"/>
            <a:ext cx="207994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4773168"/>
            <a:ext cx="16776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i18n EN / PL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Interface language switch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11469" y="4626864"/>
            <a:ext cx="207994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2637" y="4773168"/>
            <a:ext cx="16776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GitHub Actions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Tests and deploy gates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56010" y="4626864"/>
            <a:ext cx="207994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57178" y="4773168"/>
            <a:ext cx="16776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Teachers screen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Admin issues lecturer accounts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0551" y="4626864"/>
            <a:ext cx="207994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01719" y="4773168"/>
            <a:ext cx="16776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CSV export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Role-scoped reporting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45092" y="4626864"/>
            <a:ext cx="207994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6260" y="4773168"/>
            <a:ext cx="16776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/api/dashboard/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JSON metrics endpoint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6 MODELS · 6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7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51925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0292" cy="19751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3094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User</a:t>
            </a:r>
            <a:r>
              <a:rPr sz="1000" b="0" i="1">
                <a:solidFill>
                  <a:srgbClr val="8C9AAF"/>
                </a:solidFill>
                <a:latin typeface="Calibri"/>
              </a:rPr>
              <a:t>   extends AbstractUser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309472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username · email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first_name · last_name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role → admin | teacher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password (PBKDF2)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is_active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21" y="1481328"/>
            <a:ext cx="3551925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21" y="1481328"/>
            <a:ext cx="50292" cy="19751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6053" y="1664208"/>
            <a:ext cx="3094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Student</a:t>
            </a:r>
            <a:r>
              <a:rPr sz="1000" b="0" i="1">
                <a:solidFill>
                  <a:srgbClr val="8C9AAF"/>
                </a:solidFill>
                <a:latin typeface="Calibri"/>
              </a:rPr>
              <a:t>   academic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6053" y="2084832"/>
            <a:ext cx="309472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student_number (unique)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first_name · last_name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email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study_program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date_enrolled · is_active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3115" y="1481328"/>
            <a:ext cx="3551925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3115" y="1481328"/>
            <a:ext cx="50292" cy="19751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9147" y="1664208"/>
            <a:ext cx="3094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Course</a:t>
            </a:r>
            <a:r>
              <a:rPr sz="1000" b="0" i="1">
                <a:solidFill>
                  <a:srgbClr val="8C9AAF"/>
                </a:solidFill>
                <a:latin typeface="Calibri"/>
              </a:rPr>
              <a:t>   taught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9147" y="2084832"/>
            <a:ext cx="309472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course_code (unique)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course_name · description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semester · credits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max_students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teacher_id → User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57600"/>
            <a:ext cx="3551925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657600"/>
            <a:ext cx="50292" cy="19751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3094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Enrollment</a:t>
            </a:r>
            <a:r>
              <a:rPr sz="1000" b="0" i="1">
                <a:solidFill>
                  <a:srgbClr val="8C9AAF"/>
                </a:solidFill>
                <a:latin typeface="Calibri"/>
              </a:rPr>
              <a:t>   student ⇄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61104"/>
            <a:ext cx="309472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student_id → Student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course_id → Course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enrollment_date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status → active | completed | dropped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unique (student, course)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21" y="3657600"/>
            <a:ext cx="3551925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0021" y="3657600"/>
            <a:ext cx="50292" cy="19751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6053" y="3840480"/>
            <a:ext cx="3094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Grade</a:t>
            </a:r>
            <a:r>
              <a:rPr sz="1000" b="0" i="1">
                <a:solidFill>
                  <a:srgbClr val="8C9AAF"/>
                </a:solidFill>
                <a:latin typeface="Calibri"/>
              </a:rPr>
              <a:t>   weighted component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6053" y="4261104"/>
            <a:ext cx="309472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enrollment_id → Enrollment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kind → coursework | midterm | final | retake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weight 1–100 %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grade_value 2.0 – 5.0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assigned_by → User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3115" y="3657600"/>
            <a:ext cx="3551925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73115" y="3657600"/>
            <a:ext cx="50292" cy="1975104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9147" y="3840480"/>
            <a:ext cx="3094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Attendance</a:t>
            </a:r>
            <a:r>
              <a:rPr sz="1000" b="0" i="1">
                <a:solidFill>
                  <a:srgbClr val="8C9AAF"/>
                </a:solidFill>
                <a:latin typeface="Calibri"/>
              </a:rPr>
              <a:t>   daily register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9147" y="4261104"/>
            <a:ext cx="309472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id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enrollment_id → Enrollment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date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status → present | absent | late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notes</a:t>
            </a:r>
          </a:p>
          <a:p>
            <a:pPr algn="l">
              <a:lnSpc>
                <a:spcPct val="106000"/>
              </a:lnSpc>
              <a:spcAft>
                <a:spcPts val="480"/>
              </a:spcAft>
            </a:pPr>
            <a:r>
              <a:rPr sz="1080" b="0" i="0">
                <a:solidFill>
                  <a:srgbClr val="475569"/>
                </a:solidFill>
                <a:latin typeface="Calibri"/>
              </a:rPr>
              <a:t>unique (enrollment, date)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888736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Integrity where it belongs: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unique constraints, foreign keys and cascade rules live in the schema, so no interface path can create a duplicate enrollment or an orphaned grade.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WHAT THE SYSTEM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8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51925" cy="2048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3039861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Academic Records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475569"/>
                </a:solidFill>
                <a:latin typeface="Calibri"/>
              </a:rPr>
              <a:t>CRUD for students, courses and enrollments. Administrators issue lecturer accounts on Teachers. Enrollment is refused once max_students is reached.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21" y="1481328"/>
            <a:ext cx="3551925" cy="2048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021" y="1481328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6053" y="1755648"/>
            <a:ext cx="3039861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Weighted Gradebook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475569"/>
                </a:solidFill>
                <a:latin typeface="Calibri"/>
              </a:rPr>
              <a:t>Coursework, midterm, exam and retake — each with a weight. The course mark is their weighted mean. assigned_by records who last saved the component.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3115" y="1481328"/>
            <a:ext cx="3551925" cy="2048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3115" y="1481328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9147" y="1755648"/>
            <a:ext cx="3039861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Attendance Register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475569"/>
                </a:solidFill>
                <a:latin typeface="Calibri"/>
              </a:rPr>
              <a:t>Present, absent and late — one row per enrollment per day, enforced in the schema. Mark Class saves a whole roster in a single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30752"/>
            <a:ext cx="3551925" cy="2048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730752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3039861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Analytics &amp; Export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475569"/>
                </a:solidFill>
                <a:latin typeface="Calibri"/>
              </a:rPr>
              <a:t>Four KPI tiles, three Chart.js views and JSON at /api/dashboard/. CSV export of students and grades is scoped to the caller's role.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21" y="3730752"/>
            <a:ext cx="3551925" cy="2048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20021" y="3730752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6053" y="4005072"/>
            <a:ext cx="3039861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Role-Based Access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475569"/>
                </a:solidFill>
                <a:latin typeface="Calibri"/>
              </a:rPr>
              <a:t>Administrators see the institution; teachers see only their courses. Decorators guard the route, querysets filter again — a guessed URL returns nothing.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3115" y="3730752"/>
            <a:ext cx="3551925" cy="2048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3115" y="3730752"/>
            <a:ext cx="3551925" cy="50292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9147" y="4005072"/>
            <a:ext cx="3039861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i18n &amp; Quality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475569"/>
                </a:solidFill>
                <a:latin typeface="Calibri"/>
              </a:rPr>
              <a:t>312 strings, English ⇄ Polish, locale-aware dates. 96 automated tests and four CI gates (tests, migrations, deploy check, collectstatic) on every push.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THE RUNNING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Application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9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632204"/>
            <a:ext cx="3246494" cy="206677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0" name="Picture 9" descr="dashboard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682496"/>
            <a:ext cx="3145910" cy="19661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3776706"/>
            <a:ext cx="3145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spc="50">
                <a:solidFill>
                  <a:srgbClr val="8C9AAF"/>
                </a:solidFill>
                <a:latin typeface="Calibri"/>
              </a:rPr>
              <a:t>Dashboard — KPI tiles and three Chart.js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0290" y="1632204"/>
            <a:ext cx="3246494" cy="206677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students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582" y="1682496"/>
            <a:ext cx="3145910" cy="19661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50582" y="3776706"/>
            <a:ext cx="3145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spc="50">
                <a:solidFill>
                  <a:srgbClr val="8C9AAF"/>
                </a:solidFill>
                <a:latin typeface="Calibri"/>
              </a:rPr>
              <a:t>Student register — search, filters, pagination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3945" y="1632204"/>
            <a:ext cx="3246494" cy="206677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attendance-mark-cl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37" y="1682496"/>
            <a:ext cx="3145910" cy="19661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34237" y="3776706"/>
            <a:ext cx="3145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spc="50">
                <a:solidFill>
                  <a:srgbClr val="8C9AAF"/>
                </a:solidFill>
                <a:latin typeface="Calibri"/>
              </a:rPr>
              <a:t>Mark Class — a whole roster saved in one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67599" y="1632204"/>
            <a:ext cx="1007733" cy="206677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dashboard-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7891" y="1682496"/>
            <a:ext cx="907149" cy="19661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06411" y="3776706"/>
            <a:ext cx="173010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Responsive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C9AAF"/>
                </a:solidFill>
                <a:latin typeface="Calibri"/>
              </a:rPr>
              <a:t>down to 375 px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59552"/>
            <a:ext cx="11058113" cy="512064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614416"/>
            <a:ext cx="104363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Every table is role-aware: </a:t>
            </a:r>
            <a:r>
              <a:rPr sz="1200" b="0" i="0">
                <a:solidFill>
                  <a:srgbClr val="D6DFEC"/>
                </a:solidFill>
                <a:latin typeface="Calibri"/>
              </a:rPr>
              <a:t>a teacher opening the same page sees only students in their own courses, and the action buttons disappear.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502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2563EB"/>
                </a:solidFill>
                <a:latin typeface="Calibri"/>
              </a:rPr>
              <a:t>IN PRODUCTION, NOT ON A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75895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Deployment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6241" y="548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spc="80">
                <a:solidFill>
                  <a:srgbClr val="8C9AAF"/>
                </a:solidFill>
                <a:latin typeface="Calibri"/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11058113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vizja_logo_ligh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1298448" cy="26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8C9AAF"/>
                </a:solidFill>
                <a:latin typeface="Calibri"/>
                <a:hlinkClick r:id="rId3"/>
              </a:rPr>
              <a:t>www.vizja.pl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566928" y="1481328"/>
            <a:ext cx="5623560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165506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53619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16A34A"/>
                </a:solidFill>
                <a:latin typeface="Calibri"/>
              </a:rPr>
              <a:t>LIVE   </a:t>
            </a:r>
            <a:r>
              <a:rPr sz="1150" b="1" i="0" u="none">
                <a:solidFill>
                  <a:srgbClr val="FFFFFF"/>
                </a:solidFill>
                <a:latin typeface="Calibri"/>
                <a:hlinkClick r:id="rId4"/>
              </a:rPr>
              <a:t>https://thesms.me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481328"/>
            <a:ext cx="5233385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554480"/>
            <a:ext cx="4904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 spc="80">
                <a:solidFill>
                  <a:srgbClr val="8C9AAF"/>
                </a:solidFill>
                <a:latin typeface="Calibri"/>
              </a:rPr>
              <a:t>DEFENCE LOGIN  (teacher)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prof.martinez  /  demo1234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194560"/>
            <a:ext cx="2065318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395728"/>
            <a:ext cx="5029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377440"/>
            <a:ext cx="160811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2563EB"/>
                </a:solidFill>
                <a:latin typeface="Calibri"/>
              </a:rPr>
              <a:t>25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students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5126" y="2194560"/>
            <a:ext cx="2065318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15126" y="2395728"/>
            <a:ext cx="50292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9446" y="2377440"/>
            <a:ext cx="160811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7C3AED"/>
                </a:solidFill>
                <a:latin typeface="Calibri"/>
              </a:rPr>
              <a:t>8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courses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3325" y="2194560"/>
            <a:ext cx="2065318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3325" y="2395728"/>
            <a:ext cx="50292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7645" y="2377440"/>
            <a:ext cx="160811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D9488"/>
                </a:solidFill>
                <a:latin typeface="Calibri"/>
              </a:rPr>
              <a:t>87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enrollment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1524" y="2194560"/>
            <a:ext cx="2065318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1524" y="2395728"/>
            <a:ext cx="50292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5844" y="2377440"/>
            <a:ext cx="160811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D97706"/>
                </a:solidFill>
                <a:latin typeface="Calibri"/>
              </a:rPr>
              <a:t>87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grades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9722" y="2194560"/>
            <a:ext cx="2065318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59722" y="2395728"/>
            <a:ext cx="50292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4042" y="2377440"/>
            <a:ext cx="160811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6A34A"/>
                </a:solidFill>
                <a:latin typeface="Calibri"/>
              </a:rPr>
              <a:t>€0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monthly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145536"/>
            <a:ext cx="5401040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3145536"/>
            <a:ext cx="5401040" cy="502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419856"/>
            <a:ext cx="494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16A34A"/>
                </a:solidFill>
                <a:latin typeface="Calibri"/>
              </a:rPr>
              <a:t>DELIVERED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749040"/>
            <a:ext cx="488897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Live on Render + Neon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HTTPS, HSTS, managed PostgreSQL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Six-model schema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constraints and an audit trail in the database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Role isolation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admins and teachers see strictly their own data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Bilingual interface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312 strings, locale-aware dates and numbers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96 tests, four CI gates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green on every push, then build.sh deploys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4000" y="3145536"/>
            <a:ext cx="5401040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4000" y="3145536"/>
            <a:ext cx="5401040" cy="502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032" y="3419856"/>
            <a:ext cx="494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2563EB"/>
                </a:solidFill>
                <a:latin typeface="Calibri"/>
              </a:rPr>
              <a:t>FUTURE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32" y="3749040"/>
            <a:ext cx="488897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Student portal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a third role with read-only access to own results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Semester transcripts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generated PDF reports per student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Email notifications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alerts on new grades and absences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Documented REST API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token-authenticated public interface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60" b="1" i="0">
                <a:solidFill>
                  <a:srgbClr val="B4C0D0"/>
                </a:solidFill>
                <a:latin typeface="Calibri"/>
              </a:rPr>
              <a:t>—  </a:t>
            </a:r>
            <a:r>
              <a:rPr sz="1160" b="1" i="0">
                <a:solidFill>
                  <a:srgbClr val="0F172A"/>
                </a:solidFill>
                <a:latin typeface="Calibri"/>
              </a:rPr>
              <a:t>Two-factor login — </a:t>
            </a:r>
            <a:r>
              <a:rPr sz="1160" b="0" i="0">
                <a:solidFill>
                  <a:srgbClr val="475569"/>
                </a:solidFill>
                <a:latin typeface="Calibri"/>
              </a:rPr>
              <a:t>TOTP for administrator accounts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-1280160"/>
            <a:ext cx="5852160" cy="58521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487168"/>
            <a:ext cx="100584" cy="914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2432304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 for your attention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4C0D0"/>
                </a:solidFill>
                <a:latin typeface="Calibri"/>
              </a:rPr>
              <a:t>Questions are welcome.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986784"/>
            <a:ext cx="7223760" cy="10972"/>
          </a:xfrm>
          <a:prstGeom prst="rect">
            <a:avLst/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22452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Maksym Shpak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8C9AAF"/>
                </a:solidFill>
                <a:latin typeface="Calibri"/>
              </a:rPr>
              <a:t>Computer Science · Index: 45567</a:t>
            </a:r>
          </a:p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2563EB"/>
                </a:solidFill>
                <a:latin typeface="Calibri"/>
                <a:hlinkClick r:id="rId2"/>
              </a:rPr>
              <a:t>https://thesms.me</a:t>
            </a:r>
          </a:p>
        </p:txBody>
      </p:sp>
      <p:pic>
        <p:nvPicPr>
          <p:cNvPr id="7" name="Picture 6" descr="vizja_logo_dark_vertical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160520"/>
            <a:ext cx="2926080" cy="13110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30481" y="63459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 spc="60" u="none">
                <a:solidFill>
                  <a:srgbClr val="B4C0D0"/>
                </a:solidFill>
                <a:latin typeface="Calibri"/>
                <a:hlinkClick r:id="rId4"/>
              </a:rPr>
              <a:t>www.vizja.pl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