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thesms.m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thesms.me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hesms.me" TargetMode="External"/><Relationship Id="rId3" Type="http://schemas.openxmlformats.org/officeDocument/2006/relationships/image" Target="../media/image1.png"/><Relationship Id="rId4" Type="http://schemas.openxmlformats.org/officeDocument/2006/relationships/hyperlink" Target="https://www.vizja.p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818120" y="-1005840"/>
            <a:ext cx="6035040" cy="603504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464040" y="3200400"/>
            <a:ext cx="4023360" cy="4023360"/>
          </a:xfrm>
          <a:prstGeom prst="roundRect">
            <a:avLst>
              <a:gd name="adj" fmla="val 50000"/>
            </a:avLst>
          </a:prstGeom>
          <a:solidFill>
            <a:srgbClr val="18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00584" cy="8229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vizja_logo_dark_vertic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572768"/>
            <a:ext cx="3246120" cy="14544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" y="131673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40">
                <a:solidFill>
                  <a:srgbClr val="B4C0D0"/>
                </a:solidFill>
                <a:latin typeface="Calibri"/>
              </a:rPr>
              <a:t>UNIWERSYTET VIZJA  ·  SCHOOL OF COMPUTER SCIENCE &amp;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700784"/>
            <a:ext cx="749807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Design and Implementation of 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Web-Based Student Management System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for Educational Institutions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859536" y="3785615"/>
            <a:ext cx="5806440" cy="402336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840480"/>
            <a:ext cx="5532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 spc="140">
                <a:solidFill>
                  <a:srgbClr val="FFFFFF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https://thesms.me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956048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STUDENT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Index: 45567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232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SUPERVISOR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Marcin Kacprowicz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Diploma 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FIELD OF STUDY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Computer Science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Engineering degree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3"/>
              </a:rPr>
              <a:t>www.vizja.pl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THIS DEFENCE COVERS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Presentation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2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9105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1554480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Spreadsheets, paper registers, no audit trail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0545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70662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2670048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Moodle, USOS, Google Classroom — and the gap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621024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2219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85616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Technology Stack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Django 6, Python 3.12, PostgreSQL 18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73659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93776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4901184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Browser › Render TLS › Gunicorn ›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64" y="159105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5792" y="1554480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Database Design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6 models, 6 migrations, constraints in the schema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8864" y="250545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8864" y="270662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5792" y="2670048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Key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Weighted grades, RBAC, EN/PL, 96 tests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864" y="3621024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864" y="382219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5792" y="3785616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Dashboard, student records, mobile layout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78864" y="473659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864" y="493776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5792" y="4901184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Live on Render + Neon, then what comes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WHY THIS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3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Calibri"/>
              </a:rPr>
              <a:t>3 places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spreadsheet, paper register
and email thread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4341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97706"/>
                </a:solidFill>
                <a:latin typeface="Calibri"/>
              </a:rPr>
              <a:t>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audit trail of who entered
or edited a grade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7435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B2777"/>
                </a:solidFill>
                <a:latin typeface="Calibri"/>
              </a:rPr>
              <a:t>by hand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every average and every
attendance total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DB2777"/>
                </a:solidFill>
                <a:latin typeface="Calibri"/>
              </a:rPr>
              <a:t>THE PROBLEM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Fragmented records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spreadsheets, paper registers, email threads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single view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grades and attendance never meet in one place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Manual arithmetic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averages recalculated by hand, errors slip through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accountability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nobody can prove who recorded a mark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confidentiality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teacher can see every student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Polish interface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staff work in English-only 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4000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4000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32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THE PURPOSE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32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One source of truth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 relational schema with enforced constraints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Instant analytics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KPI tiles and three charts from ORM aggregation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Automatic authorship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grade stores who assigned it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Scoped visibility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teachers see their own courses, admins see all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Bilingual by design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the whole interface switches EN ⇄ PL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Deployable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one build script, HTTPS, managed PostgreSQL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449824"/>
            <a:ext cx="11058113" cy="566928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5504688"/>
            <a:ext cx="1043632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Result: </a:t>
            </a:r>
            <a:r>
              <a:rPr sz="1250" b="0" i="0">
                <a:solidFill>
                  <a:srgbClr val="D6DFEC"/>
                </a:solidFill>
                <a:latin typeface="Calibri"/>
              </a:rPr>
              <a:t>one auditable, role-aware platform now managing 25 students, 8 courses, 87 enrollment records — 51 of them active — and 87 grades in production.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EXISTING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4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426464"/>
          <a:ext cx="11055095" cy="3963924"/>
        </p:xfrm>
        <a:graphic>
          <a:graphicData uri="http://schemas.openxmlformats.org/drawingml/2006/table">
            <a:tbl>
              <a:tblPr firstRow="0" bandRow="0"/>
              <a:tblGrid>
                <a:gridCol w="2084831"/>
                <a:gridCol w="1975104"/>
                <a:gridCol w="1975104"/>
                <a:gridCol w="2157984"/>
                <a:gridCol w="286207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MOODLE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USOS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GOOGLE CLASSROOM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SMS — THIS PROJECT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Target user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Large universities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 public HEIs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Schools and courses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Departments and small institutions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Self-hosted, heavy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Vendor-managed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Google cloud only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Self-hosted, one Django app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Setup effort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Days of plugin work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contract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Minutes, no control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Minutes — a single build script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Gradebook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Yes, complex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Basic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Weighted components + author audit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Attendance register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Plugin required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Not available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Built in, three statuses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Role isolation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Configurable, intricate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Enforced at queryset level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Bilingual EN / PL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Language packs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Polish-first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Native, 312 strings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Analytics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Reports plugin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reports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Chart.js dashboard + CSV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Cost of ownership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GPL +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Licensed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Free, data in Google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Open source, €0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870448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Positioning: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the established platforms are either too heavy or too closed for a single department; SMS trades breadth for a focused, auditable and fully self-hosted core.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CHOSEN FOR A MAINTAINABLE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5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2563EB"/>
                </a:solidFill>
                <a:latin typeface="Calibri"/>
              </a:rPr>
              <a:t>BACKEND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Runtime · data · authentication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Python 3.12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6.0.6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PostgreSQL 18 (Neon)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SQLite 3 for development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session authentication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Custom user model with roles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ORM · 6 migrations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dj-database-url 2.1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4341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7C3AED"/>
                </a:solidFill>
                <a:latin typeface="Calibri"/>
              </a:rPr>
              <a:t>FRONTEND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Templates · charts · theming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341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Templates · 30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Semantic HTML5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CSS custom properties · 1 945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Vanilla JavaScript ES6 · 425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Chart.js 4 — doughnut and bars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Turbo 8 page transitions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Bootstrap Icons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Light and dark themes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7435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16A34A"/>
                </a:solidFill>
                <a:latin typeface="Calibri"/>
              </a:rPr>
              <a:t>INFRASTRUCTURE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Hosting · operations · 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7435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Render web service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Neon managed PostgreSQL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Gunicorn 22 (WSGI)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WhiteNoise 6.6 static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HTTPS with HSTS preload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GitHub Actions CI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 version control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Zero CDN dependencies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59552"/>
            <a:ext cx="11058113" cy="530352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5614416"/>
            <a:ext cx="10436321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No build step, no separate API server.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Every asset is vendored locally, so the application runs and demonstrates fully offline.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SERVER-RENDERED MTV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6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2563EB"/>
                </a:solidFill>
                <a:latin typeface="Calibri"/>
              </a:rPr>
              <a:t>CLIENT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Browser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HTML · CSS · ES6
Turbo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3429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93429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1173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0D9488"/>
                </a:solidFill>
                <a:latin typeface="Calibri"/>
              </a:rPr>
              <a:t>EDGE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Render · TLS 443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HTTPS, HSTS
static via WhiteNoise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1181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931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9931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7675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7C3AED"/>
                </a:solidFill>
                <a:latin typeface="Calibri"/>
              </a:rPr>
              <a:t>APPLICATION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Gunicorn + Django 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URL › View › Template
ORM aggregation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7683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6433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46433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4177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16A34A"/>
                </a:solidFill>
                <a:latin typeface="Calibri"/>
              </a:rPr>
              <a:t>DATA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PostgreSQL 18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Neon managed
DATABASE_URL, one codebase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28416"/>
            <a:ext cx="11058113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350215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REQUEST PIPELINE — MIDDLEWARE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7" y="3776472"/>
            <a:ext cx="79004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3803904"/>
            <a:ext cx="7900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Security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741017" y="3776472"/>
            <a:ext cx="714146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41017" y="3803904"/>
            <a:ext cx="71414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Session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64892" y="3776472"/>
            <a:ext cx="486460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4892" y="3803904"/>
            <a:ext cx="4864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CSRF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61080" y="3776472"/>
            <a:ext cx="63825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61080" y="3803904"/>
            <a:ext cx="6382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Locale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09060" y="3776472"/>
            <a:ext cx="94183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09060" y="3803904"/>
            <a:ext cx="9418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WhiteNoise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60620" y="3776472"/>
            <a:ext cx="124541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60620" y="3803904"/>
            <a:ext cx="12454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Authentication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760" y="3776472"/>
            <a:ext cx="1321308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5760" y="3803904"/>
            <a:ext cx="13213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Role decorators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46796" y="3776472"/>
            <a:ext cx="1397203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6796" y="3803904"/>
            <a:ext cx="1397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Queryset scoping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35254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SUPPORTING SERVICES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i18n EN / PL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Interface language switch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11469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2637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GitHub Actions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Tests and deploy gates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56010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57178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Teachers screen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Admin issues lecturer accounts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0551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01719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CSV export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Role-scoped reporting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45092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6260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/api/dashboard/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JSON metrics endpoint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6 MODELS · 6 MIGRATIONS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7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User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extends AbstractUser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username · 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role → admin | teacher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password (PBKDF2)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is_active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6053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Student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academic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6053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student_number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study_program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date_enrolled · is_active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9147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Course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taught unit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9147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course_code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course_name · description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semester · credits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max_students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teacher_id → User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Enrollment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student ⇄ course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student_id → Student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course_id → Course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active | completed | dropped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(student, course)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21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20021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6053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Grade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weighted component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6053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kind → coursework | midterm | final | retake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weight 1–100 %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grade_value 2.0 – 5.0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assigned_by → User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73115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73115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9147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Attendance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daily register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9147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present | absent | late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notes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(enrollment, date)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888736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Integrity where it belongs: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unique constraints, foreign keys and cascade rules live in the schema, so no interface path can create a duplicate enrollment or an orphaned grade.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THE SYSTEM ACTUALLY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8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Academic Records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CRUD for students, courses and enrollments. Administrators issue lecturer accounts on Teachers. Enrollment is refused once max_students is reached.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6053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Weighted Gradebook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Coursework, midterm, exam and retake — each with a weight. The course mark is their weighted mean. assigned_by records who last saved the component.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9147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Attendance Register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Present, absent and late — one row per enrollment per day, enforced in the schema. Mark Class saves a whole roster in a single request.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Analytics &amp; Export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Four KPI tiles, three Chart.js views and JSON at /api/dashboard/. CSV export of students and grades is scoped to the caller's role.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21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20021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6053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Role-Based Access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Administrators see the institution; teachers see only their courses. Decorators guard the route, querysets filter again — a guessed URL returns nothing.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3115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73115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9147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i18n &amp; Quality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312 strings, English ⇄ Polish, locale-aware dates. 96 automated tests and four CI gates (tests, migrations, deploy check, collectstatic) on every push.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THE RUNNING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9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6635" y="1632204"/>
            <a:ext cx="3246494" cy="20667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0" name="Picture 9" descr="dashboard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682496"/>
            <a:ext cx="3145910" cy="19661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776706"/>
            <a:ext cx="314591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Dashboard — KPI tiles and three Chart.js views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00290" y="1632204"/>
            <a:ext cx="3246494" cy="20667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3" name="Picture 12" descr="students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0582" y="1682496"/>
            <a:ext cx="3145910" cy="196619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50582" y="3776706"/>
            <a:ext cx="314591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Student register — search, filters, pagination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3945" y="1632204"/>
            <a:ext cx="3246494" cy="20667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attendance-mark-cla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4237" y="1682496"/>
            <a:ext cx="3145910" cy="19661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34237" y="3776706"/>
            <a:ext cx="314591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Mark Class — a whole roster saved in one request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67599" y="1632204"/>
            <a:ext cx="1007733" cy="20667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9" name="Picture 18" descr="dashboard-mob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17891" y="1682496"/>
            <a:ext cx="907149" cy="196619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306411" y="3776706"/>
            <a:ext cx="17301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Responsive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down to 375 px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59552"/>
            <a:ext cx="11058113" cy="512064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5614416"/>
            <a:ext cx="104363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Every table is role-aware: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a teacher opening the same page sees only students in their own courses, and the action buttons disappear.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IN PRODUCTION, NOT ON A LAPTOP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10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566928" y="1481328"/>
            <a:ext cx="5623560" cy="566928"/>
          </a:xfrm>
          <a:prstGeom prst="roundRect">
            <a:avLst>
              <a:gd name="adj" fmla="val 1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6384" y="1655064"/>
            <a:ext cx="146304" cy="14630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1536192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40">
                <a:solidFill>
                  <a:srgbClr val="16A34A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https://thesms.me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481328"/>
            <a:ext cx="5233385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554480"/>
            <a:ext cx="490420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 spc="80">
                <a:solidFill>
                  <a:srgbClr val="8C9AAF"/>
                </a:solidFill>
                <a:latin typeface="Calibri"/>
              </a:rPr>
              <a:t>DEFENCE LOGIN  (teacher)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prof.martinez  /  demo1234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Calibri"/>
              </a:rPr>
              <a:t>25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students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15126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15126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89446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7C3AED"/>
                </a:solidFill>
                <a:latin typeface="Calibri"/>
              </a:rPr>
              <a:t>8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courses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63325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63325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7645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D9488"/>
                </a:solidFill>
                <a:latin typeface="Calibri"/>
              </a:rPr>
              <a:t>87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enrollment records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1524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1524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5844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D97706"/>
                </a:solidFill>
                <a:latin typeface="Calibri"/>
              </a:rPr>
              <a:t>87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grades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9722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59722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34042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6A34A"/>
                </a:solidFill>
                <a:latin typeface="Calibri"/>
              </a:rPr>
              <a:t>€0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monthly cost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928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DELIVERED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Live on Render + Neon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HTTPS, HSTS, managed PostgreSQL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Six-model schema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constraints and an audit trail in the database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Role isolation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admins and teachers see strictly their own data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Bilingual interface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312 strings, locale-aware dates and numbers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96 tests, four CI gates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green on every push, then build.sh deploys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4000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24000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0032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2563EB"/>
                </a:solidFill>
                <a:latin typeface="Calibri"/>
              </a:rPr>
              <a:t>FUTURE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80032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Student portal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 third role with read-only access to own results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Semester transcripts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generated PDF reports per student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Email notifications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alerts on new grades and absences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Documented REST API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token-authenticated public interface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Two-factor login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TOTP for administrator accounts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0" y="-1280160"/>
            <a:ext cx="5852160" cy="58521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487168"/>
            <a:ext cx="100584" cy="914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7824" y="2432304"/>
            <a:ext cx="8595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Thank you for your attention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B4C0D0"/>
                </a:solidFill>
                <a:latin typeface="Calibri"/>
              </a:rPr>
              <a:t>Questions are welcome.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986784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224528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8C9AAF"/>
                </a:solidFill>
                <a:latin typeface="Calibri"/>
              </a:rPr>
              <a:t>Computer Science · Index: 45567</a:t>
            </a:r>
          </a:p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2563EB"/>
                </a:solidFill>
                <a:latin typeface="Calibri"/>
                <a:hlinkClick r:id="rId2"/>
              </a:rPr>
              <a:t>https://thesms.me</a:t>
            </a:r>
          </a:p>
        </p:txBody>
      </p:sp>
      <p:pic>
        <p:nvPicPr>
          <p:cNvPr id="7" name="Picture 6" descr="vizja_logo_dark_vertical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4160520"/>
            <a:ext cx="2926080" cy="13110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4"/>
              </a:rPr>
              <a:t>www.vizja.pl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