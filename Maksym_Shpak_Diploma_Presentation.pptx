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818120" y="-1005840"/>
            <a:ext cx="6035040" cy="603504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464040" y="3200400"/>
            <a:ext cx="4023360" cy="4023360"/>
          </a:xfrm>
          <a:prstGeom prst="roundRect">
            <a:avLst>
              <a:gd name="adj" fmla="val 50000"/>
            </a:avLst>
          </a:prstGeom>
          <a:solidFill>
            <a:srgbClr val="18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00584" cy="8229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16736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40">
                <a:solidFill>
                  <a:srgbClr val="B4C0D0"/>
                </a:solidFill>
                <a:latin typeface="Calibri"/>
              </a:rPr>
              <a:t>UNIWERSYTET VIZJA  ·  SCHOOL OF COMPUTER SCIENCE &amp; TECHNOLOGIES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700784"/>
            <a:ext cx="8138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Design and Implementation of 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Web-Based Student Management System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for Educational Institutions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785615"/>
            <a:ext cx="5138928" cy="402336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3840480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 spc="140">
                <a:solidFill>
                  <a:srgbClr val="FFFFFF"/>
                </a:solidFill>
                <a:latin typeface="Calibri"/>
              </a:rPr>
              <a:t>LIVE   </a:t>
            </a:r>
            <a:r>
              <a:rPr sz="1150" b="1" i="0">
                <a:solidFill>
                  <a:srgbClr val="FFFFFF"/>
                </a:solidFill>
                <a:latin typeface="Calibri"/>
              </a:rPr>
              <a:t>diploma-project-sms-management-system.onrender.com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956048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STUDENT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Index: [nr albumu]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232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SUPERVISOR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[dr / promotor]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Diploma seminar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31536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FIELD OF STUDY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Computer Science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Engineering degree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>
                <a:solidFill>
                  <a:srgbClr val="B4C0D0"/>
                </a:solidFill>
                <a:latin typeface="Calibri"/>
              </a:rPr>
              <a:t>www.vizja.pl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THIS DEFENCE COVERS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Presentation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2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>
                <a:solidFill>
                  <a:srgbClr val="8C9AAF"/>
                </a:solidFill>
                <a:latin typeface="Calibri"/>
              </a:rPr>
              <a:t>www.vizja.pl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B4C0D0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1481328"/>
            <a:ext cx="47792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Spreadsheets, paper registers, no audit trail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1401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B4C0D0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2377440"/>
            <a:ext cx="47792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Moodle, USOS, Google Classroom — and the gap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127248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310128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B4C0D0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3273552"/>
            <a:ext cx="47792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Technology Stack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Django 6, Python 3.12, PostgreSQL 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023360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20624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B4C0D0"/>
                </a:solidFill>
                <a:latin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169664"/>
            <a:ext cx="47792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Browser › Render TLS › Gunicorn › PostgreSQL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91947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0235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B4C0D0"/>
                </a:solidFill>
                <a:latin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5065776"/>
            <a:ext cx="47792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Database Design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6 models, 5 migrations, constraints in the schema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864" y="151790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B4C0D0"/>
                </a:solidFill>
                <a:latin typeface="Calibr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5792" y="1481328"/>
            <a:ext cx="47792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Key Features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Gradebook, attendance, analytics, CSV export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864" y="223113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864" y="241401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B4C0D0"/>
                </a:solidFill>
                <a:latin typeface="Calibr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45792" y="2377440"/>
            <a:ext cx="47792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Role-Based Access Control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Administrator and teacher data isolation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78864" y="3127248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78864" y="3310128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B4C0D0"/>
                </a:solidFill>
                <a:latin typeface="Calibr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45792" y="3273552"/>
            <a:ext cx="47792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Internationalisation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269 translatable strings, English and Polish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8864" y="4023360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78864" y="420624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B4C0D0"/>
                </a:solidFill>
                <a:latin typeface="Calibri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45792" y="4169664"/>
            <a:ext cx="47792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Quality Assurance &amp; CI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50 automated tests, four CI gates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78864" y="491947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8864" y="510235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B4C0D0"/>
                </a:solidFill>
                <a:latin typeface="Calibri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45792" y="5065776"/>
            <a:ext cx="47792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Live on Render + Neon at zero hosting cost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WHY THIS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3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>
                <a:solidFill>
                  <a:srgbClr val="8C9AAF"/>
                </a:solidFill>
                <a:latin typeface="Calibri"/>
              </a:rPr>
              <a:t>www.vizja.pl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Calibri"/>
              </a:rPr>
              <a:t>4–6 h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per week per teacher spent on
manual record-keeping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21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0021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341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97706"/>
                </a:solidFill>
                <a:latin typeface="Calibri"/>
              </a:rPr>
              <a:t>3 places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 single student record is
split across today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3115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73115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7435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B2777"/>
                </a:solidFill>
                <a:latin typeface="Calibri"/>
              </a:rPr>
              <a:t>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audit trail of who entered
or edited a grade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DB2777"/>
                </a:solidFill>
                <a:latin typeface="Calibri"/>
              </a:rPr>
              <a:t>THE PROBLEM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Fragmented records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spreadsheets, paper registers, email threads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single view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grades and attendance never meet in one place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Manual arithmetic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averages recalculated by hand, errors slip through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accountability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nobody can prove who recorded a mark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confidentiality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teacher can see every student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Polish interface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staff work in English-only tools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4000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24000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32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THE PURPOSE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0032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One source of truth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 relational schema with enforced constraints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Instant analytics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KPI tiles and three charts from ORM aggregation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Automatic authorship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grade stores who assigned it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Scoped visibility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teachers see their own courses, admins see all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Bilingual by design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the whole interface switches EN ⇄ PL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Deployable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one build script, HTTPS, managed PostgreSQL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449824"/>
            <a:ext cx="11058113" cy="566928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504688"/>
            <a:ext cx="1043632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Result: </a:t>
            </a:r>
            <a:r>
              <a:rPr sz="1250" b="0" i="0">
                <a:solidFill>
                  <a:srgbClr val="D6DFEC"/>
                </a:solidFill>
                <a:latin typeface="Calibri"/>
              </a:rPr>
              <a:t>one auditable, role-aware platform now managing 25 students, 8 courses, 87 enrollments and 53 grades in production.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EXISTING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4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>
                <a:solidFill>
                  <a:srgbClr val="8C9AAF"/>
                </a:solidFill>
                <a:latin typeface="Calibri"/>
              </a:rPr>
              <a:t>www.vizja.pl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426464"/>
          <a:ext cx="11055095" cy="3963924"/>
        </p:xfrm>
        <a:graphic>
          <a:graphicData uri="http://schemas.openxmlformats.org/drawingml/2006/table">
            <a:tbl>
              <a:tblPr firstRow="0" bandRow="0"/>
              <a:tblGrid>
                <a:gridCol w="2084831"/>
                <a:gridCol w="1975104"/>
                <a:gridCol w="1975104"/>
                <a:gridCol w="2157984"/>
                <a:gridCol w="286207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MOODLE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USOS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GOOGLE CLASSROOM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SMS — THIS PROJECT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Target user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Large universities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 public HEIs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Schools and courses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Departments and small institutions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Self-hosted, heavy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Vendor-managed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Google cloud only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Self-hosted, one Django app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Setup effort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Days of plugin work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contract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Minutes, no control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Minutes — a single build script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Gradebook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Yes, complex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Basic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Yes, with author audit trail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Attendance register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Plugin required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Not available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Built in, four statuses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Role isolation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Configurable, intricate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Enforced at queryset level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Bilingual EN / PL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Language packs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Polish-first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Native, 269 strings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Analytics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Reports plugin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reports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Chart.js dashboard + CSV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Cost of ownership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GPL +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Licensed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Free, data in Google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Open source, €0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870448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Positioning: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the established platforms are either too heavy or too closed for a single department; SMS trades breadth for a focused, auditable and fully self-hosted core.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CHOSEN FOR A MAINTAINABLE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5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>
                <a:solidFill>
                  <a:srgbClr val="8C9AAF"/>
                </a:solidFill>
                <a:latin typeface="Calibri"/>
              </a:rPr>
              <a:t>www.vizja.pl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2563EB"/>
                </a:solidFill>
                <a:latin typeface="Calibri"/>
              </a:rPr>
              <a:t>BACKEND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Runtime · data · authentication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Python 3.12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6.0.6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PostgreSQL 16 (Neon)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SQLite 3 for development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session authentication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Custom user model with roles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ORM · 5 migrations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dj-database-url 2.1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4341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7C3AED"/>
                </a:solidFill>
                <a:latin typeface="Calibri"/>
              </a:rPr>
              <a:t>FRONTEND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Templates · charts · theming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4341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Templates · 28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Semantic HTML5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CSS custom properties · 1 771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Vanilla JavaScript ES6 · 399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Chart.js 4 — doughnut and bars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Turbo 8 page transitions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Bootstrap Icons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Light and dark themes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3115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7435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16A34A"/>
                </a:solidFill>
                <a:latin typeface="Calibri"/>
              </a:rPr>
              <a:t>INFRASTRUCTURE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Hosting · operations · CI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7435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Render web service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Neon managed PostgreSQL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Gunicorn 22 (WSGI)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WhiteNoise 6.6 static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HTTPS with HSTS preload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GitHub Actions CI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 version control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Zero CDN dependencies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559552"/>
            <a:ext cx="11058113" cy="530352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614416"/>
            <a:ext cx="10436321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 build step, no separate API server.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Every asset is vendored locally, so the application runs and demonstrates fully offline.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SERVER-RENDERED MTV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6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>
                <a:solidFill>
                  <a:srgbClr val="8C9AAF"/>
                </a:solidFill>
                <a:latin typeface="Calibri"/>
              </a:rPr>
              <a:t>www.vizja.pl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2563EB"/>
                </a:solidFill>
                <a:latin typeface="Calibri"/>
              </a:rPr>
              <a:t>CLIENT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Browser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HTML · CSS · ES6
Turbo navigation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79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3429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93429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1173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0D9488"/>
                </a:solidFill>
                <a:latin typeface="Calibri"/>
              </a:rPr>
              <a:t>EDGE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Render · TLS 443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HTTPS, HSTS
static via WhiteNoise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1181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9931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9931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7675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7C3AED"/>
                </a:solidFill>
                <a:latin typeface="Calibri"/>
              </a:rPr>
              <a:t>APPLICATION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Gunicorn + Django 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URL › View › Template
ORM aggregation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7683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46433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46433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4177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16A34A"/>
                </a:solidFill>
                <a:latin typeface="Calibri"/>
              </a:rPr>
              <a:t>DATA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PostgreSQL 16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Neon managed
daily backups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328416"/>
            <a:ext cx="11058113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7" y="350215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REQUEST PIPELINE — MIDDLEWARE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7" y="3776472"/>
            <a:ext cx="79004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803904"/>
            <a:ext cx="7900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Security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741017" y="3776472"/>
            <a:ext cx="714146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41017" y="3803904"/>
            <a:ext cx="71414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Session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64892" y="3776472"/>
            <a:ext cx="486460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4892" y="3803904"/>
            <a:ext cx="4864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CSRF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1080" y="3776472"/>
            <a:ext cx="63825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61080" y="3803904"/>
            <a:ext cx="6382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Locale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909060" y="3776472"/>
            <a:ext cx="94183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09060" y="3803904"/>
            <a:ext cx="9418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WhiteNoise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60620" y="3776472"/>
            <a:ext cx="124541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60620" y="3803904"/>
            <a:ext cx="12454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Authentication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15760" y="3776472"/>
            <a:ext cx="1321308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15760" y="3803904"/>
            <a:ext cx="13213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Role decorators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46796" y="3776472"/>
            <a:ext cx="1397203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46796" y="3803904"/>
            <a:ext cx="1397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Queryset scoping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35254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SUPPORTING SERVICES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SMTP email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Password reset links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11469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12637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GitHub Actions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Tests and deploy gates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56010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57178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Django Admin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Superuser operations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00551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01719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CSV export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Role-scoped reporting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45092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46260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/api/dashboard/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JSON metrics endpoint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6 MODELS · 5 MIGRATIONS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7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>
                <a:solidFill>
                  <a:srgbClr val="8C9AAF"/>
                </a:solidFill>
                <a:latin typeface="Calibri"/>
              </a:rPr>
              <a:t>www.vizja.pl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User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extends AbstractUser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username · 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role → admin | teacher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password (PBKDF2)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is_active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6053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Student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academic identity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6053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student_number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study_program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date_enrolled · is_active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3115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9147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Course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taught unit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9147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course_code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course_name · description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semester · credits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max_students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teacher_id → User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Enrollment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student ⇄ course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student_id → Student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course_id → Course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active | completed | dropped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(student, course)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21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20021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6053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Grade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assessment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6053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grade_value 2.0 – 5.0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letter_grade (derived)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assigned_by → User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date_assigned · comments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73115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73115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9147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Attendance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daily register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9147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present | absent | late | excused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notes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(enrollment, date)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888736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Integrity where it belongs: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unique constraints, foreign keys and cascade rules live in the schema, so no interface path can create a duplicate enrollment or an orphaned grade.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THE SYSTEM ACTUALLY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8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>
                <a:solidFill>
                  <a:srgbClr val="8C9AAF"/>
                </a:solidFill>
                <a:latin typeface="Calibri"/>
              </a:rPr>
              <a:t>www.vizja.pl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Academic Records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Complete CRUD for students, courses and enrollments. Search, programme and status filters plus pagination — and the filters survive every page change because they are carried in the query string.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21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6053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Gradebook with Audit Trail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Numeric grades from 2.0 to 5.0 map automatically to letter grades. Each record stores assigned_by, so it is always provable which teacher entered or last edited a mark.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3115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9147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Attendance Register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Present, absent, late and excused, with one row per enrollment per day guaranteed by a database constraint. The resulting attendance rate feeds the analytics directly.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Analytics Dashboard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Four KPI tiles and three Chart.js visualisations — grade distribution, enrollments per course, students per programme — all computed by ORM aggregation and also served as JSON at /api/dashboard/.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21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20021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6053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Capacity &amp; 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Enrollment is refused once a course reaches max_students. Duplicate enrollments and duplicate attendance rows are impossible by design, not by convention.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3115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3115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9147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Export &amp; Password Recovery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Students and grades export to CSV with translated headers, scoped to the caller's role. Password reset delivers a signed, single-use link over SMTP.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TWO ROLES, ENFORCED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Role-Based Access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9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>
                <a:solidFill>
                  <a:srgbClr val="8C9AAF"/>
                </a:solidFill>
                <a:latin typeface="Calibri"/>
              </a:rPr>
              <a:t>www.vizja.pl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481328"/>
          <a:ext cx="6675120" cy="3456432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2395728"/>
                <a:gridCol w="217627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ADMINISTRATOR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TEACHER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Institution-wide metrics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7C3AED"/>
                          </a:solidFill>
                          <a:latin typeface="Calibri"/>
                        </a:rPr>
                        <a:t>Own courses only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Students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Create, edit, delete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7C3AED"/>
                          </a:solidFill>
                          <a:latin typeface="Calibri"/>
                        </a:rPr>
                        <a:t>Read-only, own courses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Courses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Full CRUD, assigns teachers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7C3AED"/>
                          </a:solidFill>
                          <a:latin typeface="Calibri"/>
                        </a:rPr>
                        <a:t>Read-only, own courses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Enrollments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Full CRUD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7C3AED"/>
                          </a:solidFill>
                          <a:latin typeface="Calibri"/>
                        </a:rPr>
                        <a:t>Read-only, own courses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Grades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Full CRUD, all courses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7C3AED"/>
                          </a:solidFill>
                          <a:latin typeface="Calibri"/>
                        </a:rPr>
                        <a:t>Full CRUD, own courses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Attendance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Full CRUD, all courses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7C3AED"/>
                          </a:solidFill>
                          <a:latin typeface="Calibri"/>
                        </a:rPr>
                        <a:t>Full CRUD, own courses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CSV export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Complete dataset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7C3AED"/>
                          </a:solidFill>
                          <a:latin typeface="Calibri"/>
                        </a:rPr>
                        <a:t>Scoped to own courses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Django Admin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Available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7C3AED"/>
                          </a:solidFill>
                          <a:latin typeface="Calibri"/>
                        </a:rPr>
                        <a:t>Not available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516368" y="1481328"/>
            <a:ext cx="4108673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16368" y="1481328"/>
            <a:ext cx="50292" cy="11704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700784"/>
            <a:ext cx="365147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172A"/>
                </a:solidFill>
                <a:latin typeface="Calibri"/>
              </a:rPr>
              <a:t>Guarded twice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@admin_required and @teacher_or_admin_required protect the route; the queryset is filtered again inside the view. A guessed URL returns nothing.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16368" y="2798064"/>
            <a:ext cx="4108673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16368" y="2798064"/>
            <a:ext cx="50292" cy="117043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3017520"/>
            <a:ext cx="365147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172A"/>
                </a:solidFill>
                <a:latin typeface="Calibri"/>
              </a:rPr>
              <a:t>IDOR-proof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Every detail, edit and delete view re-checks object ownership before it touches the database.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4114800"/>
            <a:ext cx="4108673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516368" y="4114800"/>
            <a:ext cx="50292" cy="11704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4334256"/>
            <a:ext cx="365147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172A"/>
                </a:solidFill>
                <a:latin typeface="Calibri"/>
              </a:rPr>
              <a:t>Proven by tests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TeacherDataIsolationTests asserts that a teacher can neither read nor modify records belonging to a course they do not own.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96128"/>
            <a:ext cx="11058113" cy="512064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650992"/>
            <a:ext cx="104363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Design decision: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two roles instead of many. Enough to demonstrate real authorisation and data confidentiality, simple enough to stay verifiable.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ENGLISH ⇄ POLISH,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Internationalisation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10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>
                <a:solidFill>
                  <a:srgbClr val="8C9AAF"/>
                </a:solidFill>
                <a:latin typeface="Calibri"/>
              </a:rPr>
              <a:t>www.vizja.pl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81328"/>
            <a:ext cx="1883664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82496"/>
            <a:ext cx="50292" cy="51206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64208"/>
            <a:ext cx="142646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Calibri"/>
              </a:rPr>
              <a:t>269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Calibri"/>
              </a:rPr>
              <a:t>translatable
strings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1481328"/>
            <a:ext cx="1883664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51760" y="1682496"/>
            <a:ext cx="50292" cy="51206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664208"/>
            <a:ext cx="142646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7C3AED"/>
                </a:solidFill>
                <a:latin typeface="Calibri"/>
              </a:rPr>
              <a:t>2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Calibri"/>
              </a:rPr>
              <a:t>interface
languages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36592" y="1481328"/>
            <a:ext cx="1883664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36592" y="1682496"/>
            <a:ext cx="50292" cy="51206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664208"/>
            <a:ext cx="142646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6A34A"/>
                </a:solidFill>
                <a:latin typeface="Calibri"/>
              </a:rPr>
              <a:t>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Calibri"/>
              </a:rPr>
              <a:t>hardcoded
UI strings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578608"/>
            <a:ext cx="6053328" cy="2907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" y="2578608"/>
            <a:ext cx="6053328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852928"/>
            <a:ext cx="55961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7C3AED"/>
                </a:solidFill>
                <a:latin typeface="Calibri"/>
              </a:rPr>
              <a:t>HOW IT IS DONE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182112"/>
            <a:ext cx="5541264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120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0F172A"/>
                </a:solidFill>
                <a:latin typeface="Calibri"/>
              </a:rPr>
              <a:t>Templates — </a:t>
            </a:r>
            <a:r>
              <a:rPr sz="1200" b="0" i="0">
                <a:solidFill>
                  <a:srgbClr val="475569"/>
                </a:solidFill>
                <a:latin typeface="Calibri"/>
              </a:rPr>
              <a:t>every string in {% trans %} or {% blocktrans %}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120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0F172A"/>
                </a:solidFill>
                <a:latin typeface="Calibri"/>
              </a:rPr>
              <a:t>At the source — </a:t>
            </a:r>
            <a:r>
              <a:rPr sz="1200" b="0" i="0">
                <a:solidFill>
                  <a:srgbClr val="475569"/>
                </a:solidFill>
                <a:latin typeface="Calibri"/>
              </a:rPr>
              <a:t>model choices, placeholders, flash messages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120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0F172A"/>
                </a:solidFill>
                <a:latin typeface="Calibri"/>
              </a:rPr>
              <a:t>Dates — </a:t>
            </a:r>
            <a:r>
              <a:rPr sz="1200" b="0" i="0">
                <a:solidFill>
                  <a:srgbClr val="475569"/>
                </a:solidFill>
                <a:latin typeface="Calibri"/>
              </a:rPr>
              <a:t>locale formats: 26/08/2025 or 26.08.2025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120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0F172A"/>
                </a:solidFill>
                <a:latin typeface="Calibri"/>
              </a:rPr>
              <a:t>Catalogue — </a:t>
            </a:r>
            <a:r>
              <a:rPr sz="1200" b="0" i="0">
                <a:solidFill>
                  <a:srgbClr val="475569"/>
                </a:solidFill>
                <a:latin typeface="Calibri"/>
              </a:rPr>
              <a:t>stored programmes and courses via a trans_db filter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120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0F172A"/>
                </a:solidFill>
                <a:latin typeface="Calibri"/>
              </a:rPr>
              <a:t>Numbers — </a:t>
            </a:r>
            <a:r>
              <a:rPr sz="1200" b="0" i="0">
                <a:solidFill>
                  <a:srgbClr val="475569"/>
                </a:solidFill>
                <a:latin typeface="Calibri"/>
              </a:rPr>
              <a:t>unlocalised for JavaScript, then Intl.NumberFormat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120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0F172A"/>
                </a:solidFill>
                <a:latin typeface="Calibri"/>
              </a:rPr>
              <a:t>Continuity — </a:t>
            </a:r>
            <a:r>
              <a:rPr sz="1200" b="0" i="0">
                <a:solidFill>
                  <a:srgbClr val="475569"/>
                </a:solidFill>
                <a:latin typeface="Calibri"/>
              </a:rPr>
              <a:t>the switch keeps the page and persists per session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80860" y="1815084"/>
            <a:ext cx="4794473" cy="30342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22" name="Picture 21" descr="dashboard-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152" y="1865376"/>
            <a:ext cx="4693889" cy="29336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31152" y="4927072"/>
            <a:ext cx="46938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The dashboard in Polish — labels, catalogue values and number formats all follow the active locale.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96128"/>
            <a:ext cx="11058113" cy="512064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5650992"/>
            <a:ext cx="104363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Polish is not a bolt-on: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the catalogue is compiled during the build, committed as django.mo, and guarded by LocalizationTests.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CORRECTNESS KEPT HONEST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Quality Assurance &amp; 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11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>
                <a:solidFill>
                  <a:srgbClr val="8C9AAF"/>
                </a:solidFill>
                <a:latin typeface="Calibri"/>
              </a:rPr>
              <a:t>www.vizja.pl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81328"/>
            <a:ext cx="2613652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82496"/>
            <a:ext cx="50292" cy="43891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64208"/>
            <a:ext cx="215645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2563EB"/>
                </a:solidFill>
                <a:latin typeface="Calibri"/>
              </a:rPr>
              <a:t>50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automated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1748" y="1481328"/>
            <a:ext cx="2613652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81748" y="1682496"/>
            <a:ext cx="50292" cy="43891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6068" y="1664208"/>
            <a:ext cx="215645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7C3AED"/>
                </a:solidFill>
                <a:latin typeface="Calibri"/>
              </a:rPr>
              <a:t>14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test classes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6568" y="1481328"/>
            <a:ext cx="2613652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6568" y="1682496"/>
            <a:ext cx="50292" cy="43891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0888" y="1664208"/>
            <a:ext cx="215645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16A34A"/>
                </a:solidFill>
                <a:latin typeface="Calibri"/>
              </a:rPr>
              <a:t>4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CI gates per push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11389" y="1481328"/>
            <a:ext cx="2613652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11389" y="1682496"/>
            <a:ext cx="50292" cy="43891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5709" y="1664208"/>
            <a:ext cx="215645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0D9488"/>
                </a:solidFill>
                <a:latin typeface="Calibri"/>
              </a:rPr>
              <a:t>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known failing tests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523744"/>
            <a:ext cx="7004304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2761487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2563EB"/>
                </a:solidFill>
                <a:latin typeface="Calibri"/>
              </a:rPr>
              <a:t>TEST SUITE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" y="31455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SmokeRenderTests</a:t>
            </a:r>
            <a:r>
              <a:rPr sz="1019" b="0" i="0">
                <a:solidFill>
                  <a:srgbClr val="8C9AAF"/>
                </a:solidFill>
                <a:latin typeface="Calibri"/>
              </a:rPr>
              <a:t>  pages render for both roles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31455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TeacherDataIsolationTests</a:t>
            </a:r>
            <a:r>
              <a:rPr sz="1019" b="0" i="0">
                <a:solidFill>
                  <a:srgbClr val="8C9AAF"/>
                </a:solidFill>
                <a:latin typeface="Calibri"/>
              </a:rPr>
              <a:t>  scoping and IDOR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355701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CrudFlowTests</a:t>
            </a:r>
            <a:r>
              <a:rPr sz="1019" b="0" i="0">
                <a:solidFill>
                  <a:srgbClr val="8C9AAF"/>
                </a:solidFill>
                <a:latin typeface="Calibri"/>
              </a:rPr>
              <a:t>  create, edit, delete end to 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51376" y="355701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GradeAuditTests</a:t>
            </a:r>
            <a:r>
              <a:rPr sz="1019" b="0" i="0">
                <a:solidFill>
                  <a:srgbClr val="8C9AAF"/>
                </a:solidFill>
                <a:latin typeface="Calibri"/>
              </a:rPr>
              <a:t>  assigned_by always recorded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" y="39684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EnrollmentCapacityTests</a:t>
            </a:r>
            <a:r>
              <a:rPr sz="1019" b="0" i="0">
                <a:solidFill>
                  <a:srgbClr val="8C9AAF"/>
                </a:solidFill>
                <a:latin typeface="Calibri"/>
              </a:rPr>
              <a:t>  max_students enforced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1376" y="39684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LocalizationTests</a:t>
            </a:r>
            <a:r>
              <a:rPr sz="1019" b="0" i="0">
                <a:solidFill>
                  <a:srgbClr val="8C9AAF"/>
                </a:solidFill>
                <a:latin typeface="Calibri"/>
              </a:rPr>
              <a:t>  EN ⇄ PL, database values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" y="43799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PaginationTests</a:t>
            </a:r>
            <a:r>
              <a:rPr sz="1019" b="0" i="0">
                <a:solidFill>
                  <a:srgbClr val="8C9AAF"/>
                </a:solidFill>
                <a:latin typeface="Calibri"/>
              </a:rPr>
              <a:t>  filters survive paging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51376" y="43799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LogoutSafetyTests</a:t>
            </a:r>
            <a:r>
              <a:rPr sz="1019" b="0" i="0">
                <a:solidFill>
                  <a:srgbClr val="8C9AAF"/>
                </a:solidFill>
                <a:latin typeface="Calibri"/>
              </a:rPr>
              <a:t>  logout is POST-only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7" y="479145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DashboardApiTests</a:t>
            </a:r>
            <a:r>
              <a:rPr sz="1019" b="0" i="0">
                <a:solidFill>
                  <a:srgbClr val="8C9AAF"/>
                </a:solidFill>
                <a:latin typeface="Calibri"/>
              </a:rPr>
              <a:t>  payload differs per role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51376" y="479145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PasswordResetEmailTests</a:t>
            </a:r>
            <a:r>
              <a:rPr sz="1019" b="0" i="0">
                <a:solidFill>
                  <a:srgbClr val="8C9AAF"/>
                </a:solidFill>
                <a:latin typeface="Calibri"/>
              </a:rPr>
              <a:t>  reset mail is signed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7" y="52029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DeploymentSeedTests</a:t>
            </a:r>
            <a:r>
              <a:rPr sz="1019" b="0" i="0">
                <a:solidFill>
                  <a:srgbClr val="8C9AAF"/>
                </a:solidFill>
                <a:latin typeface="Calibri"/>
              </a:rPr>
              <a:t>  seeding is idempotent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51376" y="52029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CoreModelTests</a:t>
            </a:r>
            <a:r>
              <a:rPr sz="1019" b="0" i="0">
                <a:solidFill>
                  <a:srgbClr val="8C9AAF"/>
                </a:solidFill>
                <a:latin typeface="Calibri"/>
              </a:rPr>
              <a:t>  letter grades and invariants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45552" y="2523744"/>
            <a:ext cx="3779489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19872" y="2761487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CI PIPELINE</a:t>
            </a:r>
          </a:p>
        </p:txBody>
      </p:sp>
      <p:sp>
        <p:nvSpPr>
          <p:cNvPr id="36" name="Oval 35"/>
          <p:cNvSpPr/>
          <p:nvPr/>
        </p:nvSpPr>
        <p:spPr>
          <a:xfrm>
            <a:off x="8138160" y="3200400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85708" y="3310128"/>
            <a:ext cx="7315" cy="292608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192" y="3127248"/>
            <a:ext cx="295652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git push</a:t>
            </a:r>
            <a:r>
              <a:rPr sz="1000" b="0" i="0">
                <a:solidFill>
                  <a:srgbClr val="8C9AAF"/>
                </a:solidFill>
                <a:latin typeface="Calibri"/>
              </a:rPr>
              <a:t>   GitHub Actions starts</a:t>
            </a:r>
          </a:p>
        </p:txBody>
      </p:sp>
      <p:sp>
        <p:nvSpPr>
          <p:cNvPr id="39" name="Oval 38"/>
          <p:cNvSpPr/>
          <p:nvPr/>
        </p:nvSpPr>
        <p:spPr>
          <a:xfrm>
            <a:off x="8138160" y="3602736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85708" y="3712463"/>
            <a:ext cx="7315" cy="292608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94192" y="3529584"/>
            <a:ext cx="295652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manage.py test</a:t>
            </a:r>
            <a:r>
              <a:rPr sz="1000" b="0" i="0">
                <a:solidFill>
                  <a:srgbClr val="8C9AAF"/>
                </a:solidFill>
                <a:latin typeface="Calibri"/>
              </a:rPr>
              <a:t>   the full suite must pass</a:t>
            </a:r>
          </a:p>
        </p:txBody>
      </p:sp>
      <p:sp>
        <p:nvSpPr>
          <p:cNvPr id="42" name="Oval 41"/>
          <p:cNvSpPr/>
          <p:nvPr/>
        </p:nvSpPr>
        <p:spPr>
          <a:xfrm>
            <a:off x="8138160" y="4005072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85708" y="4114800"/>
            <a:ext cx="7315" cy="292608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94192" y="3931920"/>
            <a:ext cx="295652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makemigrations --check</a:t>
            </a:r>
            <a:r>
              <a:rPr sz="1000" b="0" i="0">
                <a:solidFill>
                  <a:srgbClr val="8C9AAF"/>
                </a:solidFill>
                <a:latin typeface="Calibri"/>
              </a:rPr>
              <a:t>   no model drift allowed</a:t>
            </a:r>
          </a:p>
        </p:txBody>
      </p:sp>
      <p:sp>
        <p:nvSpPr>
          <p:cNvPr id="45" name="Oval 44"/>
          <p:cNvSpPr/>
          <p:nvPr/>
        </p:nvSpPr>
        <p:spPr>
          <a:xfrm>
            <a:off x="8138160" y="4407408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85708" y="4517136"/>
            <a:ext cx="7315" cy="292608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94192" y="4334256"/>
            <a:ext cx="295652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check --deploy</a:t>
            </a:r>
            <a:r>
              <a:rPr sz="1000" b="0" i="0">
                <a:solidFill>
                  <a:srgbClr val="8C9AAF"/>
                </a:solidFill>
                <a:latin typeface="Calibri"/>
              </a:rPr>
              <a:t>   production security audit</a:t>
            </a:r>
          </a:p>
        </p:txBody>
      </p:sp>
      <p:sp>
        <p:nvSpPr>
          <p:cNvPr id="48" name="Oval 47"/>
          <p:cNvSpPr/>
          <p:nvPr/>
        </p:nvSpPr>
        <p:spPr>
          <a:xfrm>
            <a:off x="8138160" y="4809744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85708" y="4919472"/>
            <a:ext cx="7315" cy="292608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94192" y="4736592"/>
            <a:ext cx="295652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collectstatic</a:t>
            </a:r>
            <a:r>
              <a:rPr sz="1000" b="0" i="0">
                <a:solidFill>
                  <a:srgbClr val="8C9AAF"/>
                </a:solidFill>
                <a:latin typeface="Calibri"/>
              </a:rPr>
              <a:t>   assets build cleanly</a:t>
            </a:r>
          </a:p>
        </p:txBody>
      </p:sp>
      <p:sp>
        <p:nvSpPr>
          <p:cNvPr id="51" name="Oval 50"/>
          <p:cNvSpPr/>
          <p:nvPr/>
        </p:nvSpPr>
        <p:spPr>
          <a:xfrm>
            <a:off x="8138160" y="5212080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94192" y="5138928"/>
            <a:ext cx="295652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20" b="1" i="0">
                <a:solidFill>
                  <a:srgbClr val="0F172A"/>
                </a:solidFill>
                <a:latin typeface="Calibri"/>
              </a:rPr>
              <a:t>build.sh on Render</a:t>
            </a:r>
            <a:r>
              <a:rPr sz="1000" b="0" i="0">
                <a:solidFill>
                  <a:srgbClr val="8C9AAF"/>
                </a:solidFill>
                <a:latin typeface="Calibri"/>
              </a:rPr>
              <a:t>   migrate, compile PL, seed, serve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APPLICATION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Interface —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12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>
                <a:solidFill>
                  <a:srgbClr val="8C9AAF"/>
                </a:solidFill>
                <a:latin typeface="Calibri"/>
              </a:rPr>
              <a:t>www.vizja.pl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5" y="1888236"/>
            <a:ext cx="5474192" cy="34590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9" name="Picture 8" descr="dashboard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38528"/>
            <a:ext cx="5373608" cy="3358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5425049"/>
            <a:ext cx="5373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Administrator dashboard — four KPI tiles and three Chart.js views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1140" y="1888236"/>
            <a:ext cx="5474192" cy="34590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2" name="Picture 11" descr="dashboard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432" y="1938528"/>
            <a:ext cx="5373608" cy="335850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1432" y="5425049"/>
            <a:ext cx="5373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The same dashboard in dark theme, driven by CSS custom properties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APPLICATION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Interface —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13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>
                <a:solidFill>
                  <a:srgbClr val="8C9AAF"/>
                </a:solidFill>
                <a:latin typeface="Calibri"/>
              </a:rPr>
              <a:t>www.vizja.pl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5459" y="1833372"/>
            <a:ext cx="4636008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9" name="Picture 8" descr="students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751" y="1883664"/>
            <a:ext cx="4535424" cy="28346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5751" y="4846320"/>
            <a:ext cx="4535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Student register — search, programme and status filters, pagination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1779" y="1833372"/>
            <a:ext cx="4636008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2" name="Picture 11" descr="student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071" y="1883664"/>
            <a:ext cx="4535424" cy="2834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42071" y="4846320"/>
            <a:ext cx="4535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Student profile — enrollments, grades and attendance in one 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38099" y="1833372"/>
            <a:ext cx="1408411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5" name="Picture 14" descr="dashboard-mob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8391" y="1883664"/>
            <a:ext cx="1307827" cy="283463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6911" y="4846320"/>
            <a:ext cx="213078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Responsive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down to 430 px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559552"/>
            <a:ext cx="11058113" cy="512064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5614416"/>
            <a:ext cx="104363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Every table is role-aware: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a teacher opening the same page sees only the students enrolled in the courses they teach, and the action buttons disappear.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IN PRODUCTION, NOT ON A LAPTOP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Deployment &amp; Live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14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>
                <a:solidFill>
                  <a:srgbClr val="8C9AAF"/>
                </a:solidFill>
                <a:latin typeface="Calibri"/>
              </a:rPr>
              <a:t>www.vizja.pl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81328"/>
            <a:ext cx="5852160" cy="566928"/>
          </a:xfrm>
          <a:prstGeom prst="roundRect">
            <a:avLst>
              <a:gd name="adj" fmla="val 1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55064"/>
            <a:ext cx="146304" cy="14630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153619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40">
                <a:solidFill>
                  <a:srgbClr val="16A34A"/>
                </a:solidFill>
                <a:latin typeface="Calibri"/>
              </a:rPr>
              <a:t>LIVE   </a:t>
            </a:r>
            <a:r>
              <a:rPr sz="1250" b="1" i="0">
                <a:solidFill>
                  <a:srgbClr val="FFFFFF"/>
                </a:solidFill>
                <a:latin typeface="Calibri"/>
              </a:rPr>
              <a:t>https://diploma-project-sms-management-system.onrender.com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31136"/>
            <a:ext cx="2065318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2432304"/>
            <a:ext cx="50292" cy="43891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414016"/>
            <a:ext cx="160811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2563EB"/>
                </a:solidFill>
                <a:latin typeface="Calibri"/>
              </a:rPr>
              <a:t>25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students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5126" y="2231136"/>
            <a:ext cx="2065318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815126" y="2432304"/>
            <a:ext cx="50292" cy="43891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89446" y="2414016"/>
            <a:ext cx="160811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7C3AED"/>
                </a:solidFill>
                <a:latin typeface="Calibri"/>
              </a:rPr>
              <a:t>8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courses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63325" y="2231136"/>
            <a:ext cx="2065318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63325" y="2432304"/>
            <a:ext cx="50292" cy="43891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7645" y="2414016"/>
            <a:ext cx="160811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0D9488"/>
                </a:solidFill>
                <a:latin typeface="Calibri"/>
              </a:rPr>
              <a:t>87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enrollments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1524" y="2231136"/>
            <a:ext cx="2065318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1524" y="2432304"/>
            <a:ext cx="50292" cy="43891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5844" y="2414016"/>
            <a:ext cx="160811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D97706"/>
                </a:solidFill>
                <a:latin typeface="Calibri"/>
              </a:rPr>
              <a:t>53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grades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59722" y="2231136"/>
            <a:ext cx="2065318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559722" y="2432304"/>
            <a:ext cx="50292" cy="43891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34042" y="2414016"/>
            <a:ext cx="160811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16A34A"/>
                </a:solidFill>
                <a:latin typeface="Calibri"/>
              </a:rPr>
              <a:t>€0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Calibri"/>
              </a:rPr>
              <a:t>monthly cost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273552"/>
            <a:ext cx="5401040" cy="234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66928" y="3273552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547872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2563EB"/>
                </a:solidFill>
                <a:latin typeface="Calibri"/>
              </a:rPr>
              <a:t>DEPLOYMENT 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877056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8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80" b="1" i="0">
                <a:solidFill>
                  <a:srgbClr val="0F172A"/>
                </a:solidFill>
                <a:latin typeface="Calibri"/>
              </a:rPr>
              <a:t>Push to main — </a:t>
            </a:r>
            <a:r>
              <a:rPr sz="1180" b="0" i="0">
                <a:solidFill>
                  <a:srgbClr val="475569"/>
                </a:solidFill>
                <a:latin typeface="Calibri"/>
              </a:rPr>
              <a:t>GitHub Actions runs the suite and the deploy gates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8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80" b="1" i="0">
                <a:solidFill>
                  <a:srgbClr val="0F172A"/>
                </a:solidFill>
                <a:latin typeface="Calibri"/>
              </a:rPr>
              <a:t>Render build.sh — </a:t>
            </a:r>
            <a:r>
              <a:rPr sz="1180" b="0" i="0">
                <a:solidFill>
                  <a:srgbClr val="475569"/>
                </a:solidFill>
                <a:latin typeface="Calibri"/>
              </a:rPr>
              <a:t>installs dependencies, compiles the Polish catalogue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8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80" b="1" i="0">
                <a:solidFill>
                  <a:srgbClr val="0F172A"/>
                </a:solidFill>
                <a:latin typeface="Calibri"/>
              </a:rPr>
              <a:t>collectstatic — </a:t>
            </a:r>
            <a:r>
              <a:rPr sz="1180" b="0" i="0">
                <a:solidFill>
                  <a:srgbClr val="475569"/>
                </a:solidFill>
                <a:latin typeface="Calibri"/>
              </a:rPr>
              <a:t>WhiteNoise fingerprints and compresses every asset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8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80" b="1" i="0">
                <a:solidFill>
                  <a:srgbClr val="0F172A"/>
                </a:solidFill>
                <a:latin typeface="Calibri"/>
              </a:rPr>
              <a:t>migrate + seed_demo — </a:t>
            </a:r>
            <a:r>
              <a:rPr sz="1180" b="0" i="0">
                <a:solidFill>
                  <a:srgbClr val="475569"/>
                </a:solidFill>
                <a:latin typeface="Calibri"/>
              </a:rPr>
              <a:t>schema applied, demo data only if empty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8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80" b="1" i="0">
                <a:solidFill>
                  <a:srgbClr val="0F172A"/>
                </a:solidFill>
                <a:latin typeface="Calibri"/>
              </a:rPr>
              <a:t>Gunicorn — </a:t>
            </a:r>
            <a:r>
              <a:rPr sz="1180" b="0" i="0">
                <a:solidFill>
                  <a:srgbClr val="475569"/>
                </a:solidFill>
                <a:latin typeface="Calibri"/>
              </a:rPr>
              <a:t>serves the WSGI application behind Render TLS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24000" y="3273552"/>
            <a:ext cx="5401040" cy="234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24000" y="3273552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0032" y="3547872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PRODUCTION HARDENING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80032" y="3877056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8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80" b="1" i="0">
                <a:solidFill>
                  <a:srgbClr val="0F172A"/>
                </a:solidFill>
                <a:latin typeface="Calibri"/>
              </a:rPr>
              <a:t>HTTPS everywhere — </a:t>
            </a:r>
            <a:r>
              <a:rPr sz="1180" b="0" i="0">
                <a:solidFill>
                  <a:srgbClr val="475569"/>
                </a:solidFill>
                <a:latin typeface="Calibri"/>
              </a:rPr>
              <a:t>redirect plus HSTS for one year, preload enabled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8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80" b="1" i="0">
                <a:solidFill>
                  <a:srgbClr val="0F172A"/>
                </a:solidFill>
                <a:latin typeface="Calibri"/>
              </a:rPr>
              <a:t>Cookies — </a:t>
            </a:r>
            <a:r>
              <a:rPr sz="1180" b="0" i="0">
                <a:solidFill>
                  <a:srgbClr val="475569"/>
                </a:solidFill>
                <a:latin typeface="Calibri"/>
              </a:rPr>
              <a:t>Secure and HttpOnly for session and CSRF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8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80" b="1" i="0">
                <a:solidFill>
                  <a:srgbClr val="0F172A"/>
                </a:solidFill>
                <a:latin typeface="Calibri"/>
              </a:rPr>
              <a:t>Headers — </a:t>
            </a:r>
            <a:r>
              <a:rPr sz="1180" b="0" i="0">
                <a:solidFill>
                  <a:srgbClr val="475569"/>
                </a:solidFill>
                <a:latin typeface="Calibri"/>
              </a:rPr>
              <a:t>nosniff, same-origin referrer, X-Frame-Options DENY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8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80" b="1" i="0">
                <a:solidFill>
                  <a:srgbClr val="0F172A"/>
                </a:solidFill>
                <a:latin typeface="Calibri"/>
              </a:rPr>
              <a:t>Secrets — </a:t>
            </a:r>
            <a:r>
              <a:rPr sz="1180" b="0" i="0">
                <a:solidFill>
                  <a:srgbClr val="475569"/>
                </a:solidFill>
                <a:latin typeface="Calibri"/>
              </a:rPr>
              <a:t>SECRET_KEY, database URL and SMTP come from the environment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8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80" b="1" i="0">
                <a:solidFill>
                  <a:srgbClr val="0F172A"/>
                </a:solidFill>
                <a:latin typeface="Calibri"/>
              </a:rPr>
              <a:t>DEBUG off — </a:t>
            </a:r>
            <a:r>
              <a:rPr sz="1180" b="0" i="0">
                <a:solidFill>
                  <a:srgbClr val="475569"/>
                </a:solidFill>
                <a:latin typeface="Calibri"/>
              </a:rPr>
              <a:t>settings validated by manage.py check --deploy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WAS ACHIEVED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Results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15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>
                <a:solidFill>
                  <a:srgbClr val="8C9AAF"/>
                </a:solidFill>
                <a:latin typeface="Calibri"/>
              </a:rPr>
              <a:t>www.vizja.pl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81328"/>
            <a:ext cx="540104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55648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DELIVERED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84832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Live deployment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HTTPS, managed PostgreSQL, automated builds</a:t>
            </a:r>
          </a:p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Six-model schema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constraints and referential integrity in the database</a:t>
            </a:r>
          </a:p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Role isolation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administrators and teachers see strictly their own data</a:t>
            </a:r>
          </a:p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Audited gradebook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grade authorship recorded on every entry</a:t>
            </a:r>
          </a:p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Attendance register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four statuses, one record per day per enrollment</a:t>
            </a:r>
          </a:p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Analytics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KPI tiles, three charts, CSV export, JSON endpoint</a:t>
            </a:r>
          </a:p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Bilingual interface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269 strings, locale-aware dates and numbers</a:t>
            </a:r>
          </a:p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50 automated tests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green in continuous integration</a:t>
            </a:r>
          </a:p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Offline-ready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no CDN, every asset vendored in the repository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4000" y="1481328"/>
            <a:ext cx="540104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24000" y="1481328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0032" y="1755648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2563EB"/>
                </a:solidFill>
                <a:latin typeface="Calibri"/>
              </a:rPr>
              <a:t>FUTURE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32" y="2084832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Student portal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a third role with read-only access to own results</a:t>
            </a:r>
          </a:p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Semester transcripts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generated PDF reports per student</a:t>
            </a:r>
          </a:p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Email notifications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automatic alerts on new grades and absences</a:t>
            </a:r>
          </a:p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REST API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a documented, token-authenticated public interface</a:t>
            </a:r>
          </a:p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Timetabling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room and slot scheduling with conflict detection</a:t>
            </a:r>
          </a:p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LMS integration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import and export against Moodle and USOS</a:t>
            </a:r>
          </a:p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Audit log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a full change history beyond grade authorship</a:t>
            </a:r>
          </a:p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Two-factor login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TOTP for administrator accounts</a:t>
            </a:r>
          </a:p>
          <a:p>
            <a:pPr algn="l">
              <a:lnSpc>
                <a:spcPct val="116000"/>
              </a:lnSpc>
              <a:spcAft>
                <a:spcPts val="860"/>
              </a:spcAft>
            </a:pPr>
            <a:r>
              <a:rPr sz="119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90" b="1" i="0">
                <a:solidFill>
                  <a:srgbClr val="0F172A"/>
                </a:solidFill>
                <a:latin typeface="Calibri"/>
              </a:rPr>
              <a:t>Progressive web app — </a:t>
            </a:r>
            <a:r>
              <a:rPr sz="1190" b="0" i="0">
                <a:solidFill>
                  <a:srgbClr val="475569"/>
                </a:solidFill>
                <a:latin typeface="Calibri"/>
              </a:rPr>
              <a:t>installable offline attendance taking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522976"/>
            <a:ext cx="11058113" cy="566928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5577840"/>
            <a:ext cx="1043632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Student Management System: </a:t>
            </a:r>
            <a:r>
              <a:rPr sz="1250" b="0" i="0">
                <a:solidFill>
                  <a:srgbClr val="D6DFEC"/>
                </a:solidFill>
                <a:latin typeface="Calibri"/>
              </a:rPr>
              <a:t>an engineering project that left the laptop — deployed, tested, localised, and ready to run in a real department.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0" y="-1280160"/>
            <a:ext cx="5852160" cy="58521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487168"/>
            <a:ext cx="100584" cy="914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2432304"/>
            <a:ext cx="8595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 for your attention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B4C0D0"/>
                </a:solidFill>
                <a:latin typeface="Calibri"/>
              </a:rPr>
              <a:t>Questions are welcome.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986784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224528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8C9AAF"/>
                </a:solidFill>
                <a:latin typeface="Calibri"/>
              </a:rPr>
              <a:t>Computer Science · Index: [nr albumu]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https://diploma-project-sms-management-system.onrender.com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>
                <a:solidFill>
                  <a:srgbClr val="B4C0D0"/>
                </a:solidFill>
                <a:latin typeface="Calibri"/>
              </a:rPr>
              <a:t>www.vizja.pl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