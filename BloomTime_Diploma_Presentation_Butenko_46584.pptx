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09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980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uk-UA" dirty="0"/>
          </a:p>
        </p:txBody>
      </p:sp>
      <p:sp>
        <p:nvSpPr>
          <p:cNvPr id="3" name="Text 1"/>
          <p:cNvSpPr/>
          <p:nvPr/>
        </p:nvSpPr>
        <p:spPr>
          <a:xfrm>
            <a:off x="571500" y="762000"/>
            <a:ext cx="6608460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UNIWERSYTET VIZJA · SCHOOL OF COMPUTER SCIENCE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71500" y="2475012"/>
            <a:ext cx="6608460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571500" y="3379887"/>
            <a:ext cx="6608460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endParaRPr lang="en-US" sz="7500" dirty="0"/>
          </a:p>
        </p:txBody>
      </p:sp>
      <p:sp>
        <p:nvSpPr>
          <p:cNvPr id="6" name="Text 4"/>
          <p:cNvSpPr/>
          <p:nvPr/>
        </p:nvSpPr>
        <p:spPr>
          <a:xfrm>
            <a:off x="571500" y="5642750"/>
            <a:ext cx="6608460" cy="491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75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</a:t>
            </a:r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Service Booking System </a:t>
            </a:r>
            <a:r>
              <a:rPr lang="en-US" sz="1275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Businesses in an Urban Environment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0" y="6324654"/>
            <a:ext cx="7558980" cy="533346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dirty="0"/>
          </a:p>
        </p:txBody>
      </p:sp>
      <p:sp>
        <p:nvSpPr>
          <p:cNvPr id="8" name="Text 6"/>
          <p:cNvSpPr/>
          <p:nvPr/>
        </p:nvSpPr>
        <p:spPr>
          <a:xfrm>
            <a:off x="571500" y="6504736"/>
            <a:ext cx="1275588" cy="229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bloomtime.page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14440" y="6517725"/>
            <a:ext cx="2149240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558980" y="0"/>
            <a:ext cx="4633019" cy="685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dirty="0">
              <a:solidFill>
                <a:srgbClr val="555555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997076" y="1830721"/>
            <a:ext cx="386953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3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8020050" y="1981308"/>
            <a:ext cx="1337613" cy="271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Heorhii Butenko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97076" y="2227010"/>
            <a:ext cx="3869532" cy="277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kern="0" spc="22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46584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19301" y="2609769"/>
            <a:ext cx="304692" cy="285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7997076" y="2866835"/>
            <a:ext cx="386953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3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997076" y="3034741"/>
            <a:ext cx="3869532" cy="247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Petro Guchek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97076" y="3501249"/>
            <a:ext cx="304692" cy="285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7997076" y="3758316"/>
            <a:ext cx="386953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3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 STUDY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997076" y="3926221"/>
            <a:ext cx="3869532" cy="247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997076" y="4392730"/>
            <a:ext cx="304692" cy="285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7997076" y="4649796"/>
            <a:ext cx="386953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997076" y="4817702"/>
            <a:ext cx="3869532" cy="247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endParaRPr lang="en-US" sz="150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6EC39D4E-0A1B-90EF-7C8D-4B0C309300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144705"/>
            <a:ext cx="4259292" cy="425929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5FAA117-C38E-AA81-C6A6-96E239579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1197" y="5640130"/>
            <a:ext cx="1680802" cy="92526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D315D22-AF61-ECA5-2045-317BA1B48B85}"/>
              </a:ext>
            </a:extLst>
          </p:cNvPr>
          <p:cNvSpPr txBox="1"/>
          <p:nvPr/>
        </p:nvSpPr>
        <p:spPr>
          <a:xfrm>
            <a:off x="10905703" y="6460652"/>
            <a:ext cx="9174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www.vizja.pl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737" y="-390245"/>
            <a:ext cx="1857636" cy="18576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37392" y="6329795"/>
            <a:ext cx="521289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1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9519" y="870915"/>
            <a:ext cx="11302150" cy="45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3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609519" y="1690823"/>
            <a:ext cx="3556045" cy="1422391"/>
          </a:xfrm>
          <a:prstGeom prst="roundRect">
            <a:avLst>
              <a:gd name="adj" fmla="val 133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7" name="Shape 4"/>
          <p:cNvSpPr/>
          <p:nvPr/>
        </p:nvSpPr>
        <p:spPr>
          <a:xfrm>
            <a:off x="609519" y="1690823"/>
            <a:ext cx="43295" cy="1422391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8" name="Text 5"/>
          <p:cNvSpPr/>
          <p:nvPr/>
        </p:nvSpPr>
        <p:spPr>
          <a:xfrm>
            <a:off x="843314" y="1862246"/>
            <a:ext cx="3225702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3314" y="2084676"/>
            <a:ext cx="3225702" cy="202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Purpose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43314" y="2306024"/>
            <a:ext cx="322570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bookings still made by phone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17910" y="1690823"/>
            <a:ext cx="3556045" cy="1422391"/>
          </a:xfrm>
          <a:prstGeom prst="roundRect">
            <a:avLst>
              <a:gd name="adj" fmla="val 133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2" name="Shape 9"/>
          <p:cNvSpPr/>
          <p:nvPr/>
        </p:nvSpPr>
        <p:spPr>
          <a:xfrm>
            <a:off x="4317910" y="1690823"/>
            <a:ext cx="43295" cy="1422391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3" name="Text 10"/>
          <p:cNvSpPr/>
          <p:nvPr/>
        </p:nvSpPr>
        <p:spPr>
          <a:xfrm>
            <a:off x="4551705" y="1862246"/>
            <a:ext cx="3225702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51705" y="2084676"/>
            <a:ext cx="3225702" cy="202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51705" y="2306024"/>
            <a:ext cx="322570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Treatwell, Fresha, Booksy: gaps BloomTime fills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26301" y="1690823"/>
            <a:ext cx="3556180" cy="1422391"/>
          </a:xfrm>
          <a:prstGeom prst="roundRect">
            <a:avLst>
              <a:gd name="adj" fmla="val 133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7" name="Shape 14"/>
          <p:cNvSpPr/>
          <p:nvPr/>
        </p:nvSpPr>
        <p:spPr>
          <a:xfrm>
            <a:off x="8026301" y="1690823"/>
            <a:ext cx="43295" cy="1422391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8" name="Text 15"/>
          <p:cNvSpPr/>
          <p:nvPr/>
        </p:nvSpPr>
        <p:spPr>
          <a:xfrm>
            <a:off x="8260096" y="1862246"/>
            <a:ext cx="3225841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60096" y="2084676"/>
            <a:ext cx="3225841" cy="202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60096" y="2306024"/>
            <a:ext cx="322584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22, React 18, PostgreSQL 16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9519" y="3265560"/>
            <a:ext cx="3556045" cy="1422391"/>
          </a:xfrm>
          <a:prstGeom prst="roundRect">
            <a:avLst>
              <a:gd name="adj" fmla="val 133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2" name="Shape 19"/>
          <p:cNvSpPr/>
          <p:nvPr/>
        </p:nvSpPr>
        <p:spPr>
          <a:xfrm>
            <a:off x="609519" y="3265560"/>
            <a:ext cx="43295" cy="1422391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3" name="Text 20"/>
          <p:cNvSpPr/>
          <p:nvPr/>
        </p:nvSpPr>
        <p:spPr>
          <a:xfrm>
            <a:off x="843314" y="3436982"/>
            <a:ext cx="3225702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3314" y="3659413"/>
            <a:ext cx="3225702" cy="202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43314" y="3880761"/>
            <a:ext cx="322570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&gt; Nginx &gt; Express &gt; PostgreSQL + APIs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317910" y="3265560"/>
            <a:ext cx="3556045" cy="1422391"/>
          </a:xfrm>
          <a:prstGeom prst="roundRect">
            <a:avLst>
              <a:gd name="adj" fmla="val 133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7" name="Shape 24"/>
          <p:cNvSpPr/>
          <p:nvPr/>
        </p:nvSpPr>
        <p:spPr>
          <a:xfrm>
            <a:off x="4317910" y="3265560"/>
            <a:ext cx="43295" cy="1422391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8" name="Text 25"/>
          <p:cNvSpPr/>
          <p:nvPr/>
        </p:nvSpPr>
        <p:spPr>
          <a:xfrm>
            <a:off x="4551705" y="3436982"/>
            <a:ext cx="3225702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51705" y="3659413"/>
            <a:ext cx="3225702" cy="202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51705" y="3880761"/>
            <a:ext cx="322570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migrations, 12 core tables, relational schema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026301" y="3265560"/>
            <a:ext cx="3556180" cy="1422391"/>
          </a:xfrm>
          <a:prstGeom prst="roundRect">
            <a:avLst>
              <a:gd name="adj" fmla="val 133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2" name="Shape 29"/>
          <p:cNvSpPr/>
          <p:nvPr/>
        </p:nvSpPr>
        <p:spPr>
          <a:xfrm>
            <a:off x="8026301" y="3265560"/>
            <a:ext cx="43295" cy="1422391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3" name="Text 30"/>
          <p:cNvSpPr/>
          <p:nvPr/>
        </p:nvSpPr>
        <p:spPr>
          <a:xfrm>
            <a:off x="8260096" y="3436982"/>
            <a:ext cx="3225841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260096" y="3659413"/>
            <a:ext cx="3225841" cy="202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260096" y="3880761"/>
            <a:ext cx="322584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engine, CMS, Google OAuth, i18n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9519" y="4840296"/>
            <a:ext cx="3556045" cy="1422391"/>
          </a:xfrm>
          <a:prstGeom prst="roundRect">
            <a:avLst>
              <a:gd name="adj" fmla="val 133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7" name="Shape 34"/>
          <p:cNvSpPr/>
          <p:nvPr/>
        </p:nvSpPr>
        <p:spPr>
          <a:xfrm>
            <a:off x="609519" y="4840296"/>
            <a:ext cx="43295" cy="1422391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8" name="Text 35"/>
          <p:cNvSpPr/>
          <p:nvPr/>
        </p:nvSpPr>
        <p:spPr>
          <a:xfrm>
            <a:off x="843314" y="5011719"/>
            <a:ext cx="3225702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43314" y="5234150"/>
            <a:ext cx="3225702" cy="202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43314" y="5455498"/>
            <a:ext cx="322570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calculation, JWT flow, email pipeline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17910" y="4840296"/>
            <a:ext cx="3556045" cy="1422391"/>
          </a:xfrm>
          <a:prstGeom prst="roundRect">
            <a:avLst>
              <a:gd name="adj" fmla="val 133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2" name="Shape 39"/>
          <p:cNvSpPr/>
          <p:nvPr/>
        </p:nvSpPr>
        <p:spPr>
          <a:xfrm>
            <a:off x="4317910" y="4840296"/>
            <a:ext cx="43295" cy="1422391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3" name="Text 40"/>
          <p:cNvSpPr/>
          <p:nvPr/>
        </p:nvSpPr>
        <p:spPr>
          <a:xfrm>
            <a:off x="4551705" y="5011719"/>
            <a:ext cx="3225702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51705" y="5234150"/>
            <a:ext cx="3225702" cy="202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551705" y="5455498"/>
            <a:ext cx="322570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bloomtime.page: 2</a:t>
            </a:r>
            <a:r>
              <a:rPr lang="ru-RU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salons, 70+ users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8026301" y="4840296"/>
            <a:ext cx="3556180" cy="1422391"/>
          </a:xfrm>
          <a:prstGeom prst="roundRect">
            <a:avLst>
              <a:gd name="adj" fmla="val 133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7" name="Shape 44"/>
          <p:cNvSpPr/>
          <p:nvPr/>
        </p:nvSpPr>
        <p:spPr>
          <a:xfrm>
            <a:off x="8026301" y="4840296"/>
            <a:ext cx="43295" cy="1422391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8" name="Text 45"/>
          <p:cNvSpPr/>
          <p:nvPr/>
        </p:nvSpPr>
        <p:spPr>
          <a:xfrm>
            <a:off x="8260096" y="5011719"/>
            <a:ext cx="3225841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260096" y="5234150"/>
            <a:ext cx="3225841" cy="202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8260096" y="5455498"/>
            <a:ext cx="322584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Shipped. What comes next.</a:t>
            </a:r>
            <a:endParaRPr lang="en-US" sz="1000" dirty="0"/>
          </a:p>
        </p:txBody>
      </p: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229D55F0-D293-DDC9-7F12-A00B73A16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879" y="215389"/>
            <a:ext cx="1680802" cy="925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3433B-868D-DBB7-89A8-037914D149C9}"/>
              </a:ext>
            </a:extLst>
          </p:cNvPr>
          <p:cNvSpPr txBox="1"/>
          <p:nvPr/>
        </p:nvSpPr>
        <p:spPr>
          <a:xfrm>
            <a:off x="10905703" y="6489227"/>
            <a:ext cx="9174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www.vizja.pl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222046" y="6329795"/>
            <a:ext cx="436635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09519" y="609519"/>
            <a:ext cx="11302150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9519" y="870915"/>
            <a:ext cx="11302150" cy="45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3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Purpose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652814" y="1690823"/>
            <a:ext cx="2286000" cy="1900000"/>
          </a:xfrm>
          <a:prstGeom prst="roundRect">
            <a:avLst>
              <a:gd name="adj" fmla="val 86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Shape 4"/>
          <p:cNvSpPr/>
          <p:nvPr/>
        </p:nvSpPr>
        <p:spPr>
          <a:xfrm>
            <a:off x="652814" y="1690823"/>
            <a:ext cx="43295" cy="1900000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5"/>
          <p:cNvSpPr/>
          <p:nvPr/>
        </p:nvSpPr>
        <p:spPr>
          <a:xfrm>
            <a:off x="905551" y="2050000"/>
            <a:ext cx="1900021" cy="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905551" y="2700000"/>
            <a:ext cx="1900021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salon bookings still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phone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7673" y="3700000"/>
            <a:ext cx="2286000" cy="1900000"/>
          </a:xfrm>
          <a:prstGeom prst="roundRect">
            <a:avLst>
              <a:gd name="adj" fmla="val 86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1" name="Shape 8"/>
          <p:cNvSpPr/>
          <p:nvPr/>
        </p:nvSpPr>
        <p:spPr>
          <a:xfrm>
            <a:off x="647673" y="3700000"/>
            <a:ext cx="43295" cy="1900000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2" name="Text 9"/>
          <p:cNvSpPr/>
          <p:nvPr/>
        </p:nvSpPr>
        <p:spPr>
          <a:xfrm>
            <a:off x="900410" y="4060000"/>
            <a:ext cx="1900021" cy="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faster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900410" y="4700000"/>
            <a:ext cx="1900021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booking vs phone call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143115" y="1690823"/>
            <a:ext cx="4238411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3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43115" y="1934901"/>
            <a:ext cx="4114962" cy="363682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6" name="Shape 13"/>
          <p:cNvSpPr/>
          <p:nvPr/>
        </p:nvSpPr>
        <p:spPr>
          <a:xfrm>
            <a:off x="3143115" y="1934901"/>
            <a:ext cx="34636" cy="363682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7" name="Text 14"/>
          <p:cNvSpPr/>
          <p:nvPr/>
        </p:nvSpPr>
        <p:spPr>
          <a:xfrm>
            <a:off x="3349201" y="2039676"/>
            <a:ext cx="3898975" cy="19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</a:t>
            </a:r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of beauty appointments booked by phone in 2024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143115" y="2393833"/>
            <a:ext cx="4114962" cy="363682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9" name="Shape 16"/>
          <p:cNvSpPr/>
          <p:nvPr/>
        </p:nvSpPr>
        <p:spPr>
          <a:xfrm>
            <a:off x="3143115" y="2393833"/>
            <a:ext cx="34636" cy="363682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0" name="Text 17"/>
          <p:cNvSpPr/>
          <p:nvPr/>
        </p:nvSpPr>
        <p:spPr>
          <a:xfrm>
            <a:off x="3349201" y="2498608"/>
            <a:ext cx="3898975" cy="19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hours/week </a:t>
            </a:r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spent managing bookings manually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143115" y="2852765"/>
            <a:ext cx="4114962" cy="363682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2" name="Shape 19"/>
          <p:cNvSpPr/>
          <p:nvPr/>
        </p:nvSpPr>
        <p:spPr>
          <a:xfrm>
            <a:off x="3143115" y="2852765"/>
            <a:ext cx="34636" cy="363682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3" name="Text 20"/>
          <p:cNvSpPr/>
          <p:nvPr/>
        </p:nvSpPr>
        <p:spPr>
          <a:xfrm>
            <a:off x="3349201" y="2957540"/>
            <a:ext cx="3898975" cy="19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friction: </a:t>
            </a:r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Google &gt; call &gt; wait before booking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143115" y="3311696"/>
            <a:ext cx="4114962" cy="363682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5" name="Shape 22"/>
          <p:cNvSpPr/>
          <p:nvPr/>
        </p:nvSpPr>
        <p:spPr>
          <a:xfrm>
            <a:off x="3143115" y="3311696"/>
            <a:ext cx="34636" cy="363682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6" name="Text 23"/>
          <p:cNvSpPr/>
          <p:nvPr/>
        </p:nvSpPr>
        <p:spPr>
          <a:xfrm>
            <a:off x="3349201" y="3416471"/>
            <a:ext cx="3898975" cy="19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no-show rate </a:t>
            </a:r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reminders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143115" y="3770628"/>
            <a:ext cx="4114962" cy="363682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8" name="Shape 25"/>
          <p:cNvSpPr/>
          <p:nvPr/>
        </p:nvSpPr>
        <p:spPr>
          <a:xfrm>
            <a:off x="3143115" y="3770628"/>
            <a:ext cx="34636" cy="363682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9" name="Text 26"/>
          <p:cNvSpPr/>
          <p:nvPr/>
        </p:nvSpPr>
        <p:spPr>
          <a:xfrm>
            <a:off x="3349201" y="3875403"/>
            <a:ext cx="3898975" cy="19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monthly revenue </a:t>
            </a:r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lost to scheduling conflicts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467519" y="1690823"/>
            <a:ext cx="4238411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35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467519" y="1934901"/>
            <a:ext cx="4114962" cy="363682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2" name="Shape 29"/>
          <p:cNvSpPr/>
          <p:nvPr/>
        </p:nvSpPr>
        <p:spPr>
          <a:xfrm>
            <a:off x="7467519" y="1934901"/>
            <a:ext cx="34636" cy="36368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3" name="Text 30"/>
          <p:cNvSpPr/>
          <p:nvPr/>
        </p:nvSpPr>
        <p:spPr>
          <a:xfrm>
            <a:off x="7673605" y="2039676"/>
            <a:ext cx="3898975" cy="19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 seconds: </a:t>
            </a:r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pick salon, service, slot, confirm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467519" y="2393833"/>
            <a:ext cx="4114962" cy="363682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5" name="Shape 32"/>
          <p:cNvSpPr/>
          <p:nvPr/>
        </p:nvSpPr>
        <p:spPr>
          <a:xfrm>
            <a:off x="7467519" y="2393833"/>
            <a:ext cx="34636" cy="36368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6" name="Text 33"/>
          <p:cNvSpPr/>
          <p:nvPr/>
        </p:nvSpPr>
        <p:spPr>
          <a:xfrm>
            <a:off x="7673605" y="2498608"/>
            <a:ext cx="3898975" cy="19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</a:t>
            </a:r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for all bookings, staff, revenue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467519" y="2852765"/>
            <a:ext cx="4114962" cy="363682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8" name="Shape 35"/>
          <p:cNvSpPr/>
          <p:nvPr/>
        </p:nvSpPr>
        <p:spPr>
          <a:xfrm>
            <a:off x="7467519" y="2852765"/>
            <a:ext cx="34636" cy="36368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9" name="Text 36"/>
          <p:cNvSpPr/>
          <p:nvPr/>
        </p:nvSpPr>
        <p:spPr>
          <a:xfrm>
            <a:off x="7673605" y="2957540"/>
            <a:ext cx="3898975" cy="19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</a:t>
            </a:r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cuts no-shows instantly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467519" y="3311696"/>
            <a:ext cx="4114962" cy="363682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1" name="Shape 38"/>
          <p:cNvSpPr/>
          <p:nvPr/>
        </p:nvSpPr>
        <p:spPr>
          <a:xfrm>
            <a:off x="7467519" y="3311696"/>
            <a:ext cx="34636" cy="36368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2" name="Text 39"/>
          <p:cNvSpPr/>
          <p:nvPr/>
        </p:nvSpPr>
        <p:spPr>
          <a:xfrm>
            <a:off x="7673605" y="3416471"/>
            <a:ext cx="3898975" cy="19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CMS </a:t>
            </a:r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for non-technical owners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467519" y="3770628"/>
            <a:ext cx="4114962" cy="363682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4" name="Shape 41"/>
          <p:cNvSpPr/>
          <p:nvPr/>
        </p:nvSpPr>
        <p:spPr>
          <a:xfrm>
            <a:off x="7467519" y="3770628"/>
            <a:ext cx="34636" cy="36368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5" name="Text 42"/>
          <p:cNvSpPr/>
          <p:nvPr/>
        </p:nvSpPr>
        <p:spPr>
          <a:xfrm>
            <a:off x="7673605" y="3875403"/>
            <a:ext cx="3898975" cy="19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ru-RU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salons </a:t>
            </a:r>
            <a:r>
              <a:rPr lang="en-US" sz="1000" dirty="0">
                <a:solidFill>
                  <a:srgbClr val="333333"/>
                </a:solidFill>
                <a:highlight>
                  <a:srgbClr val="FF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onboarded at launch</a:t>
            </a:r>
            <a:endParaRPr lang="en-US" sz="1000" dirty="0"/>
          </a:p>
        </p:txBody>
      </p:sp>
      <p:sp>
        <p:nvSpPr>
          <p:cNvPr id="90" name="Shape ConclusionBg"/>
          <p:cNvSpPr/>
          <p:nvPr/>
        </p:nvSpPr>
        <p:spPr>
          <a:xfrm>
            <a:off x="609519" y="5800000"/>
            <a:ext cx="11302150" cy="620000"/>
          </a:xfrm>
          <a:prstGeom prst="roundRect">
            <a:avLst>
              <a:gd name="adj" fmla="val 12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ConclusionAccent"/>
          <p:cNvSpPr/>
          <p:nvPr/>
        </p:nvSpPr>
        <p:spPr>
          <a:xfrm>
            <a:off x="609519" y="5800000"/>
            <a:ext cx="43295" cy="620000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ConclusionText"/>
          <p:cNvSpPr/>
          <p:nvPr/>
        </p:nvSpPr>
        <p:spPr>
          <a:xfrm>
            <a:off x="800000" y="5820000"/>
            <a:ext cx="11000000" cy="5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E63329"/>
                </a:solidFill>
                <a:latin typeface="Calibri" pitchFamily="34" charset="0"/>
              </a:rPr>
              <a:t>BloomTime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</a:rPr>
              <a:t> eliminates all 5 friction points — digital booking in under 30 seconds, 26 salons onboarded at launch</a:t>
            </a:r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EE6BFA8F-5088-F9AE-1D30-EAE6BE76B9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737" y="-390245"/>
            <a:ext cx="1857636" cy="1857636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4D0A71F-02D8-0BEF-A79F-D6F1ECF09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879" y="215389"/>
            <a:ext cx="1680802" cy="9252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80643B-6FD5-E2B8-4C93-DE0FE061BE04}"/>
              </a:ext>
            </a:extLst>
          </p:cNvPr>
          <p:cNvSpPr txBox="1"/>
          <p:nvPr/>
        </p:nvSpPr>
        <p:spPr>
          <a:xfrm>
            <a:off x="10905703" y="6489227"/>
            <a:ext cx="9174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www.vizja.pl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222046" y="6329795"/>
            <a:ext cx="436635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09519" y="609519"/>
            <a:ext cx="11302150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9519" y="870915"/>
            <a:ext cx="11302150" cy="45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3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609519" y="2057752"/>
            <a:ext cx="2437669" cy="1731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7" name="Text 4"/>
          <p:cNvSpPr/>
          <p:nvPr/>
        </p:nvSpPr>
        <p:spPr>
          <a:xfrm>
            <a:off x="742869" y="1805123"/>
            <a:ext cx="2247169" cy="176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kern="0" spc="135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47188" y="1690823"/>
            <a:ext cx="1798791" cy="384247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9" name="Text 6"/>
          <p:cNvSpPr/>
          <p:nvPr/>
        </p:nvSpPr>
        <p:spPr>
          <a:xfrm>
            <a:off x="3142438" y="1805123"/>
            <a:ext cx="1608291" cy="193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kern="0" spc="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TREATWELL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5979" y="1690823"/>
            <a:ext cx="1934089" cy="384247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1" name="Text 8"/>
          <p:cNvSpPr/>
          <p:nvPr/>
        </p:nvSpPr>
        <p:spPr>
          <a:xfrm>
            <a:off x="4941229" y="1805123"/>
            <a:ext cx="1743589" cy="193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kern="0" spc="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780068" y="1690823"/>
            <a:ext cx="2114306" cy="384247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3" name="Text 10"/>
          <p:cNvSpPr/>
          <p:nvPr/>
        </p:nvSpPr>
        <p:spPr>
          <a:xfrm>
            <a:off x="6875318" y="1805123"/>
            <a:ext cx="1923806" cy="193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kern="0" spc="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894375" y="1690823"/>
            <a:ext cx="2688107" cy="384247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5" name="Text 12"/>
          <p:cNvSpPr/>
          <p:nvPr/>
        </p:nvSpPr>
        <p:spPr>
          <a:xfrm>
            <a:off x="8987403" y="1805123"/>
            <a:ext cx="2502050" cy="193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kern="0" spc="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BLOOMTIME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9519" y="2075070"/>
            <a:ext cx="2437669" cy="37098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7" name="Shape 14"/>
          <p:cNvSpPr/>
          <p:nvPr/>
        </p:nvSpPr>
        <p:spPr>
          <a:xfrm>
            <a:off x="609519" y="2437399"/>
            <a:ext cx="243766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8" name="Text 15"/>
          <p:cNvSpPr/>
          <p:nvPr/>
        </p:nvSpPr>
        <p:spPr>
          <a:xfrm>
            <a:off x="742869" y="2179845"/>
            <a:ext cx="2247169" cy="19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047188" y="2075070"/>
            <a:ext cx="1798791" cy="37098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0" name="Shape 17"/>
          <p:cNvSpPr/>
          <p:nvPr/>
        </p:nvSpPr>
        <p:spPr>
          <a:xfrm>
            <a:off x="3047188" y="2437399"/>
            <a:ext cx="179879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1" name="Text 18"/>
          <p:cNvSpPr/>
          <p:nvPr/>
        </p:nvSpPr>
        <p:spPr>
          <a:xfrm>
            <a:off x="3180538" y="2179845"/>
            <a:ext cx="1608291" cy="19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chains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45979" y="2075070"/>
            <a:ext cx="1934089" cy="37098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3" name="Shape 20"/>
          <p:cNvSpPr/>
          <p:nvPr/>
        </p:nvSpPr>
        <p:spPr>
          <a:xfrm>
            <a:off x="4845979" y="2437399"/>
            <a:ext cx="193408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4" name="Text 21"/>
          <p:cNvSpPr/>
          <p:nvPr/>
        </p:nvSpPr>
        <p:spPr>
          <a:xfrm>
            <a:off x="4979329" y="2179845"/>
            <a:ext cx="1743589" cy="19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SMB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80068" y="2075070"/>
            <a:ext cx="2114306" cy="37098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6" name="Shape 23"/>
          <p:cNvSpPr/>
          <p:nvPr/>
        </p:nvSpPr>
        <p:spPr>
          <a:xfrm>
            <a:off x="6780068" y="2437399"/>
            <a:ext cx="211430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7" name="Text 24"/>
          <p:cNvSpPr/>
          <p:nvPr/>
        </p:nvSpPr>
        <p:spPr>
          <a:xfrm>
            <a:off x="6913418" y="2179845"/>
            <a:ext cx="1923806" cy="19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stylists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894375" y="2075070"/>
            <a:ext cx="2688107" cy="37098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9" name="Shape 26"/>
          <p:cNvSpPr/>
          <p:nvPr/>
        </p:nvSpPr>
        <p:spPr>
          <a:xfrm>
            <a:off x="8894375" y="2437399"/>
            <a:ext cx="268810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0" name="Shape 27"/>
          <p:cNvSpPr/>
          <p:nvPr/>
        </p:nvSpPr>
        <p:spPr>
          <a:xfrm>
            <a:off x="8894375" y="2075070"/>
            <a:ext cx="25977" cy="37098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1" name="Text 28"/>
          <p:cNvSpPr/>
          <p:nvPr/>
        </p:nvSpPr>
        <p:spPr>
          <a:xfrm>
            <a:off x="9053702" y="2179845"/>
            <a:ext cx="2476073" cy="19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SMB (academic)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09519" y="2446058"/>
            <a:ext cx="2437669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3" name="Shape 30"/>
          <p:cNvSpPr/>
          <p:nvPr/>
        </p:nvSpPr>
        <p:spPr>
          <a:xfrm>
            <a:off x="609519" y="2804057"/>
            <a:ext cx="243766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4" name="Text 31"/>
          <p:cNvSpPr/>
          <p:nvPr/>
        </p:nvSpPr>
        <p:spPr>
          <a:xfrm>
            <a:off x="742869" y="2550833"/>
            <a:ext cx="2247169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047188" y="2446058"/>
            <a:ext cx="1798791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6" name="Shape 33"/>
          <p:cNvSpPr/>
          <p:nvPr/>
        </p:nvSpPr>
        <p:spPr>
          <a:xfrm>
            <a:off x="3047188" y="2804057"/>
            <a:ext cx="179879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7" name="Text 34"/>
          <p:cNvSpPr/>
          <p:nvPr/>
        </p:nvSpPr>
        <p:spPr>
          <a:xfrm>
            <a:off x="3180538" y="2550833"/>
            <a:ext cx="1608291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845979" y="2446058"/>
            <a:ext cx="1934089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9" name="Shape 36"/>
          <p:cNvSpPr/>
          <p:nvPr/>
        </p:nvSpPr>
        <p:spPr>
          <a:xfrm>
            <a:off x="4845979" y="2804057"/>
            <a:ext cx="193408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0" name="Text 37"/>
          <p:cNvSpPr/>
          <p:nvPr/>
        </p:nvSpPr>
        <p:spPr>
          <a:xfrm>
            <a:off x="4979329" y="2550833"/>
            <a:ext cx="1743589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SaaS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780068" y="2446058"/>
            <a:ext cx="2114306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2" name="Shape 39"/>
          <p:cNvSpPr/>
          <p:nvPr/>
        </p:nvSpPr>
        <p:spPr>
          <a:xfrm>
            <a:off x="6780068" y="2804057"/>
            <a:ext cx="211430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3" name="Text 40"/>
          <p:cNvSpPr/>
          <p:nvPr/>
        </p:nvSpPr>
        <p:spPr>
          <a:xfrm>
            <a:off x="6913418" y="2550833"/>
            <a:ext cx="1923806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894375" y="2446058"/>
            <a:ext cx="2688107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5" name="Shape 42"/>
          <p:cNvSpPr/>
          <p:nvPr/>
        </p:nvSpPr>
        <p:spPr>
          <a:xfrm>
            <a:off x="8894375" y="2804057"/>
            <a:ext cx="268810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6" name="Shape 43"/>
          <p:cNvSpPr/>
          <p:nvPr/>
        </p:nvSpPr>
        <p:spPr>
          <a:xfrm>
            <a:off x="8894375" y="2446058"/>
            <a:ext cx="25977" cy="3666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7" name="Text 44"/>
          <p:cNvSpPr/>
          <p:nvPr/>
        </p:nvSpPr>
        <p:spPr>
          <a:xfrm>
            <a:off x="9053702" y="2550833"/>
            <a:ext cx="2476073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/ custom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09519" y="2812716"/>
            <a:ext cx="2437669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9" name="Shape 46"/>
          <p:cNvSpPr/>
          <p:nvPr/>
        </p:nvSpPr>
        <p:spPr>
          <a:xfrm>
            <a:off x="609519" y="3170715"/>
            <a:ext cx="243766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0" name="Text 47"/>
          <p:cNvSpPr/>
          <p:nvPr/>
        </p:nvSpPr>
        <p:spPr>
          <a:xfrm>
            <a:off x="742869" y="2917491"/>
            <a:ext cx="2247169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CMS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3047188" y="2812716"/>
            <a:ext cx="1798791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2" name="Shape 49"/>
          <p:cNvSpPr/>
          <p:nvPr/>
        </p:nvSpPr>
        <p:spPr>
          <a:xfrm>
            <a:off x="3047188" y="3170715"/>
            <a:ext cx="179879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3" name="Text 50"/>
          <p:cNvSpPr/>
          <p:nvPr/>
        </p:nvSpPr>
        <p:spPr>
          <a:xfrm>
            <a:off x="3180538" y="2917491"/>
            <a:ext cx="1608291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845979" y="2812716"/>
            <a:ext cx="1934089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5" name="Shape 52"/>
          <p:cNvSpPr/>
          <p:nvPr/>
        </p:nvSpPr>
        <p:spPr>
          <a:xfrm>
            <a:off x="4845979" y="3170715"/>
            <a:ext cx="193408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6" name="Text 53"/>
          <p:cNvSpPr/>
          <p:nvPr/>
        </p:nvSpPr>
        <p:spPr>
          <a:xfrm>
            <a:off x="4979329" y="2917491"/>
            <a:ext cx="1743589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6780068" y="2812716"/>
            <a:ext cx="2114306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8" name="Shape 55"/>
          <p:cNvSpPr/>
          <p:nvPr/>
        </p:nvSpPr>
        <p:spPr>
          <a:xfrm>
            <a:off x="6780068" y="3170715"/>
            <a:ext cx="211430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9" name="Text 56"/>
          <p:cNvSpPr/>
          <p:nvPr/>
        </p:nvSpPr>
        <p:spPr>
          <a:xfrm>
            <a:off x="6913418" y="2917491"/>
            <a:ext cx="1923806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894375" y="2812716"/>
            <a:ext cx="2688107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1" name="Shape 58"/>
          <p:cNvSpPr/>
          <p:nvPr/>
        </p:nvSpPr>
        <p:spPr>
          <a:xfrm>
            <a:off x="8894375" y="3170715"/>
            <a:ext cx="268810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2" name="Shape 59"/>
          <p:cNvSpPr/>
          <p:nvPr/>
        </p:nvSpPr>
        <p:spPr>
          <a:xfrm>
            <a:off x="8894375" y="2812716"/>
            <a:ext cx="25977" cy="3666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3" name="Text 60"/>
          <p:cNvSpPr/>
          <p:nvPr/>
        </p:nvSpPr>
        <p:spPr>
          <a:xfrm>
            <a:off x="9053702" y="2917491"/>
            <a:ext cx="2476073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 CMS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09519" y="3179375"/>
            <a:ext cx="2437669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5" name="Shape 62"/>
          <p:cNvSpPr/>
          <p:nvPr/>
        </p:nvSpPr>
        <p:spPr>
          <a:xfrm>
            <a:off x="609519" y="3537374"/>
            <a:ext cx="243766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6" name="Text 63"/>
          <p:cNvSpPr/>
          <p:nvPr/>
        </p:nvSpPr>
        <p:spPr>
          <a:xfrm>
            <a:off x="742869" y="3284150"/>
            <a:ext cx="2247169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3047188" y="3179375"/>
            <a:ext cx="1798791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8" name="Shape 65"/>
          <p:cNvSpPr/>
          <p:nvPr/>
        </p:nvSpPr>
        <p:spPr>
          <a:xfrm>
            <a:off x="3047188" y="3537374"/>
            <a:ext cx="179879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9" name="Text 66"/>
          <p:cNvSpPr/>
          <p:nvPr/>
        </p:nvSpPr>
        <p:spPr>
          <a:xfrm>
            <a:off x="3180538" y="3284150"/>
            <a:ext cx="1608291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4845979" y="3179375"/>
            <a:ext cx="1934089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71" name="Shape 68"/>
          <p:cNvSpPr/>
          <p:nvPr/>
        </p:nvSpPr>
        <p:spPr>
          <a:xfrm>
            <a:off x="4845979" y="3537374"/>
            <a:ext cx="193408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72" name="Text 69"/>
          <p:cNvSpPr/>
          <p:nvPr/>
        </p:nvSpPr>
        <p:spPr>
          <a:xfrm>
            <a:off x="4979329" y="3284150"/>
            <a:ext cx="1743589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6780068" y="3179375"/>
            <a:ext cx="2114306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74" name="Shape 71"/>
          <p:cNvSpPr/>
          <p:nvPr/>
        </p:nvSpPr>
        <p:spPr>
          <a:xfrm>
            <a:off x="6780068" y="3537374"/>
            <a:ext cx="211430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75" name="Text 72"/>
          <p:cNvSpPr/>
          <p:nvPr/>
        </p:nvSpPr>
        <p:spPr>
          <a:xfrm>
            <a:off x="6913418" y="3284150"/>
            <a:ext cx="1923806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8894375" y="3179375"/>
            <a:ext cx="2688107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77" name="Shape 74"/>
          <p:cNvSpPr/>
          <p:nvPr/>
        </p:nvSpPr>
        <p:spPr>
          <a:xfrm>
            <a:off x="8894375" y="3537374"/>
            <a:ext cx="268810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78" name="Shape 75"/>
          <p:cNvSpPr/>
          <p:nvPr/>
        </p:nvSpPr>
        <p:spPr>
          <a:xfrm>
            <a:off x="8894375" y="3179375"/>
            <a:ext cx="25977" cy="3666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79" name="Text 76"/>
          <p:cNvSpPr/>
          <p:nvPr/>
        </p:nvSpPr>
        <p:spPr>
          <a:xfrm>
            <a:off x="9053702" y="3284150"/>
            <a:ext cx="2476073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+ PL (i18next)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609519" y="3546033"/>
            <a:ext cx="2437669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81" name="Shape 78"/>
          <p:cNvSpPr/>
          <p:nvPr/>
        </p:nvSpPr>
        <p:spPr>
          <a:xfrm>
            <a:off x="609519" y="3904032"/>
            <a:ext cx="243766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82" name="Text 79"/>
          <p:cNvSpPr/>
          <p:nvPr/>
        </p:nvSpPr>
        <p:spPr>
          <a:xfrm>
            <a:off x="742869" y="3650808"/>
            <a:ext cx="2247169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Login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3047188" y="3546033"/>
            <a:ext cx="1798791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84" name="Shape 81"/>
          <p:cNvSpPr/>
          <p:nvPr/>
        </p:nvSpPr>
        <p:spPr>
          <a:xfrm>
            <a:off x="3047188" y="3904032"/>
            <a:ext cx="179879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85" name="Text 82"/>
          <p:cNvSpPr/>
          <p:nvPr/>
        </p:nvSpPr>
        <p:spPr>
          <a:xfrm>
            <a:off x="3180538" y="3650808"/>
            <a:ext cx="1608291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4845979" y="3546033"/>
            <a:ext cx="1934089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87" name="Shape 84"/>
          <p:cNvSpPr/>
          <p:nvPr/>
        </p:nvSpPr>
        <p:spPr>
          <a:xfrm>
            <a:off x="4845979" y="3904032"/>
            <a:ext cx="193408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88" name="Text 85"/>
          <p:cNvSpPr/>
          <p:nvPr/>
        </p:nvSpPr>
        <p:spPr>
          <a:xfrm>
            <a:off x="4979329" y="3650808"/>
            <a:ext cx="1743589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6780068" y="3546033"/>
            <a:ext cx="2114306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 dirty="0"/>
          </a:p>
        </p:txBody>
      </p:sp>
      <p:sp>
        <p:nvSpPr>
          <p:cNvPr id="90" name="Shape 87"/>
          <p:cNvSpPr/>
          <p:nvPr/>
        </p:nvSpPr>
        <p:spPr>
          <a:xfrm>
            <a:off x="6780068" y="3904032"/>
            <a:ext cx="211430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91" name="Text 88"/>
          <p:cNvSpPr/>
          <p:nvPr/>
        </p:nvSpPr>
        <p:spPr>
          <a:xfrm>
            <a:off x="6913418" y="3650808"/>
            <a:ext cx="1923806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8894375" y="3546033"/>
            <a:ext cx="2688107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93" name="Shape 90"/>
          <p:cNvSpPr/>
          <p:nvPr/>
        </p:nvSpPr>
        <p:spPr>
          <a:xfrm>
            <a:off x="8894375" y="3904032"/>
            <a:ext cx="268810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94" name="Shape 91"/>
          <p:cNvSpPr/>
          <p:nvPr/>
        </p:nvSpPr>
        <p:spPr>
          <a:xfrm>
            <a:off x="8894375" y="3546033"/>
            <a:ext cx="25977" cy="3666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95" name="Text 92"/>
          <p:cNvSpPr/>
          <p:nvPr/>
        </p:nvSpPr>
        <p:spPr>
          <a:xfrm>
            <a:off x="9053702" y="3650808"/>
            <a:ext cx="2476073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609519" y="3912691"/>
            <a:ext cx="2437669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97" name="Shape 94"/>
          <p:cNvSpPr/>
          <p:nvPr/>
        </p:nvSpPr>
        <p:spPr>
          <a:xfrm>
            <a:off x="609519" y="4270691"/>
            <a:ext cx="243766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98" name="Text 95"/>
          <p:cNvSpPr/>
          <p:nvPr/>
        </p:nvSpPr>
        <p:spPr>
          <a:xfrm>
            <a:off x="742869" y="4017466"/>
            <a:ext cx="2247169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3047188" y="3912691"/>
            <a:ext cx="1798791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00" name="Shape 97"/>
          <p:cNvSpPr/>
          <p:nvPr/>
        </p:nvSpPr>
        <p:spPr>
          <a:xfrm>
            <a:off x="3047188" y="4270691"/>
            <a:ext cx="179879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01" name="Text 98"/>
          <p:cNvSpPr/>
          <p:nvPr/>
        </p:nvSpPr>
        <p:spPr>
          <a:xfrm>
            <a:off x="3180538" y="4017466"/>
            <a:ext cx="1608291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4845979" y="3912691"/>
            <a:ext cx="1934089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03" name="Shape 100"/>
          <p:cNvSpPr/>
          <p:nvPr/>
        </p:nvSpPr>
        <p:spPr>
          <a:xfrm>
            <a:off x="4845979" y="4270691"/>
            <a:ext cx="193408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04" name="Text 101"/>
          <p:cNvSpPr/>
          <p:nvPr/>
        </p:nvSpPr>
        <p:spPr>
          <a:xfrm>
            <a:off x="4979329" y="4017466"/>
            <a:ext cx="1743589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6780068" y="3912691"/>
            <a:ext cx="2114306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06" name="Shape 103"/>
          <p:cNvSpPr/>
          <p:nvPr/>
        </p:nvSpPr>
        <p:spPr>
          <a:xfrm>
            <a:off x="6780068" y="4270691"/>
            <a:ext cx="211430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07" name="Text 104"/>
          <p:cNvSpPr/>
          <p:nvPr/>
        </p:nvSpPr>
        <p:spPr>
          <a:xfrm>
            <a:off x="6913418" y="4017466"/>
            <a:ext cx="1923806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8894375" y="3912691"/>
            <a:ext cx="2688107" cy="3666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09" name="Shape 106"/>
          <p:cNvSpPr/>
          <p:nvPr/>
        </p:nvSpPr>
        <p:spPr>
          <a:xfrm>
            <a:off x="8894375" y="4270691"/>
            <a:ext cx="268810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10" name="Shape 107"/>
          <p:cNvSpPr/>
          <p:nvPr/>
        </p:nvSpPr>
        <p:spPr>
          <a:xfrm>
            <a:off x="8894375" y="3912691"/>
            <a:ext cx="25977" cy="3666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11" name="Text 108"/>
          <p:cNvSpPr/>
          <p:nvPr/>
        </p:nvSpPr>
        <p:spPr>
          <a:xfrm>
            <a:off x="9053702" y="4017466"/>
            <a:ext cx="2476073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templates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609519" y="4279350"/>
            <a:ext cx="2437669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13" name="Shape 110"/>
          <p:cNvSpPr/>
          <p:nvPr/>
        </p:nvSpPr>
        <p:spPr>
          <a:xfrm>
            <a:off x="609519" y="4637349"/>
            <a:ext cx="243766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14" name="Text 111"/>
          <p:cNvSpPr/>
          <p:nvPr/>
        </p:nvSpPr>
        <p:spPr>
          <a:xfrm>
            <a:off x="742869" y="4384125"/>
            <a:ext cx="2247169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Deployment</a:t>
            </a:r>
            <a:endParaRPr lang="en-US" sz="1000" dirty="0"/>
          </a:p>
        </p:txBody>
      </p:sp>
      <p:sp>
        <p:nvSpPr>
          <p:cNvPr id="115" name="Shape 112"/>
          <p:cNvSpPr/>
          <p:nvPr/>
        </p:nvSpPr>
        <p:spPr>
          <a:xfrm>
            <a:off x="3047188" y="4279350"/>
            <a:ext cx="1798791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16" name="Shape 113"/>
          <p:cNvSpPr/>
          <p:nvPr/>
        </p:nvSpPr>
        <p:spPr>
          <a:xfrm>
            <a:off x="3047188" y="4637349"/>
            <a:ext cx="179879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17" name="Text 114"/>
          <p:cNvSpPr/>
          <p:nvPr/>
        </p:nvSpPr>
        <p:spPr>
          <a:xfrm>
            <a:off x="3180538" y="4384125"/>
            <a:ext cx="1608291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4845979" y="4279350"/>
            <a:ext cx="1934089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19" name="Shape 116"/>
          <p:cNvSpPr/>
          <p:nvPr/>
        </p:nvSpPr>
        <p:spPr>
          <a:xfrm>
            <a:off x="4845979" y="4637349"/>
            <a:ext cx="193408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20" name="Text 117"/>
          <p:cNvSpPr/>
          <p:nvPr/>
        </p:nvSpPr>
        <p:spPr>
          <a:xfrm>
            <a:off x="4979329" y="4384125"/>
            <a:ext cx="1743589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21" name="Shape 118"/>
          <p:cNvSpPr/>
          <p:nvPr/>
        </p:nvSpPr>
        <p:spPr>
          <a:xfrm>
            <a:off x="6780068" y="4279350"/>
            <a:ext cx="2114306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22" name="Shape 119"/>
          <p:cNvSpPr/>
          <p:nvPr/>
        </p:nvSpPr>
        <p:spPr>
          <a:xfrm>
            <a:off x="6780068" y="4637349"/>
            <a:ext cx="211430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23" name="Text 120"/>
          <p:cNvSpPr/>
          <p:nvPr/>
        </p:nvSpPr>
        <p:spPr>
          <a:xfrm>
            <a:off x="6913418" y="4384125"/>
            <a:ext cx="1923806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8894375" y="4279350"/>
            <a:ext cx="2688107" cy="36665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25" name="Shape 122"/>
          <p:cNvSpPr/>
          <p:nvPr/>
        </p:nvSpPr>
        <p:spPr>
          <a:xfrm>
            <a:off x="8894375" y="4637349"/>
            <a:ext cx="268810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26" name="Shape 123"/>
          <p:cNvSpPr/>
          <p:nvPr/>
        </p:nvSpPr>
        <p:spPr>
          <a:xfrm>
            <a:off x="8894375" y="4279350"/>
            <a:ext cx="25977" cy="3666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27" name="Text 124"/>
          <p:cNvSpPr/>
          <p:nvPr/>
        </p:nvSpPr>
        <p:spPr>
          <a:xfrm>
            <a:off x="9053702" y="4384125"/>
            <a:ext cx="2476073" cy="18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own VPS</a:t>
            </a:r>
            <a:endParaRPr lang="en-US" sz="1000" dirty="0"/>
          </a:p>
        </p:txBody>
      </p:sp>
      <p:pic>
        <p:nvPicPr>
          <p:cNvPr id="128" name="Image 0" descr="preencoded.png">
            <a:extLst>
              <a:ext uri="{FF2B5EF4-FFF2-40B4-BE49-F238E27FC236}">
                <a16:creationId xmlns:a16="http://schemas.microsoft.com/office/drawing/2014/main" id="{F923EE2C-9301-FF45-F149-7BF009E0E3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737" y="-390245"/>
            <a:ext cx="1857636" cy="1857636"/>
          </a:xfrm>
          <a:prstGeom prst="rect">
            <a:avLst/>
          </a:prstGeom>
        </p:spPr>
      </p:pic>
      <p:pic>
        <p:nvPicPr>
          <p:cNvPr id="129" name="Рисунок 128">
            <a:extLst>
              <a:ext uri="{FF2B5EF4-FFF2-40B4-BE49-F238E27FC236}">
                <a16:creationId xmlns:a16="http://schemas.microsoft.com/office/drawing/2014/main" id="{EA0AB503-1A71-552B-5527-26D425365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879" y="215389"/>
            <a:ext cx="1680802" cy="9252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F7CEEE-CF5B-A80C-EE40-FCBA5D1706A1}"/>
              </a:ext>
            </a:extLst>
          </p:cNvPr>
          <p:cNvSpPr txBox="1"/>
          <p:nvPr/>
        </p:nvSpPr>
        <p:spPr>
          <a:xfrm>
            <a:off x="10905703" y="6489227"/>
            <a:ext cx="9174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www.vizja.pl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222046" y="6329795"/>
            <a:ext cx="436635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09519" y="609519"/>
            <a:ext cx="11302150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9519" y="870915"/>
            <a:ext cx="11302150" cy="45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3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609519" y="1690823"/>
            <a:ext cx="3530609" cy="3813865"/>
          </a:xfrm>
          <a:prstGeom prst="roundRect">
            <a:avLst>
              <a:gd name="adj" fmla="val 54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Shape 4"/>
          <p:cNvSpPr/>
          <p:nvPr/>
        </p:nvSpPr>
        <p:spPr>
          <a:xfrm>
            <a:off x="609519" y="1690823"/>
            <a:ext cx="43295" cy="3813865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5"/>
          <p:cNvSpPr/>
          <p:nvPr/>
        </p:nvSpPr>
        <p:spPr>
          <a:xfrm>
            <a:off x="881333" y="1919342"/>
            <a:ext cx="3121184" cy="1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3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81333" y="2113224"/>
            <a:ext cx="3121184" cy="138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data · auth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81333" y="2703666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1" name="Text 8"/>
          <p:cNvSpPr/>
          <p:nvPr/>
        </p:nvSpPr>
        <p:spPr>
          <a:xfrm>
            <a:off x="881333" y="2471656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 </a:t>
            </a: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(LTS)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81333" y="3020534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3" name="Text 10"/>
          <p:cNvSpPr/>
          <p:nvPr/>
        </p:nvSpPr>
        <p:spPr>
          <a:xfrm>
            <a:off x="881333" y="2788525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</a:t>
            </a: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4.18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81333" y="3337403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5" name="Text 12"/>
          <p:cNvSpPr/>
          <p:nvPr/>
        </p:nvSpPr>
        <p:spPr>
          <a:xfrm>
            <a:off x="881333" y="3105393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</a:t>
            </a: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81333" y="3654272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7" name="Text 14"/>
          <p:cNvSpPr/>
          <p:nvPr/>
        </p:nvSpPr>
        <p:spPr>
          <a:xfrm>
            <a:off x="881333" y="3422262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81333" y="3971140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9" name="Text 16"/>
          <p:cNvSpPr/>
          <p:nvPr/>
        </p:nvSpPr>
        <p:spPr>
          <a:xfrm>
            <a:off x="881333" y="3739130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81333" y="4288009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1" name="Text 18"/>
          <p:cNvSpPr/>
          <p:nvPr/>
        </p:nvSpPr>
        <p:spPr>
          <a:xfrm>
            <a:off x="881333" y="4055999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81333" y="4604877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3" name="Text 20"/>
          <p:cNvSpPr/>
          <p:nvPr/>
        </p:nvSpPr>
        <p:spPr>
          <a:xfrm>
            <a:off x="881333" y="4372868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API v17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81333" y="4689737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helmet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330628" y="1690823"/>
            <a:ext cx="3530609" cy="3813865"/>
          </a:xfrm>
          <a:prstGeom prst="roundRect">
            <a:avLst>
              <a:gd name="adj" fmla="val 54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6" name="Shape 23"/>
          <p:cNvSpPr/>
          <p:nvPr/>
        </p:nvSpPr>
        <p:spPr>
          <a:xfrm>
            <a:off x="4330628" y="1690823"/>
            <a:ext cx="43295" cy="3813865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7" name="Text 24"/>
          <p:cNvSpPr/>
          <p:nvPr/>
        </p:nvSpPr>
        <p:spPr>
          <a:xfrm>
            <a:off x="4602442" y="1919342"/>
            <a:ext cx="3121184" cy="1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3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602442" y="2113224"/>
            <a:ext cx="3121184" cy="138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routing · i18n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02442" y="2703666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0" name="Text 27"/>
          <p:cNvSpPr/>
          <p:nvPr/>
        </p:nvSpPr>
        <p:spPr>
          <a:xfrm>
            <a:off x="4602442" y="2471656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602442" y="3020534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2" name="Text 29"/>
          <p:cNvSpPr/>
          <p:nvPr/>
        </p:nvSpPr>
        <p:spPr>
          <a:xfrm>
            <a:off x="4602442" y="2788525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 </a:t>
            </a: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(bundler)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02442" y="3337403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4" name="Text 31"/>
          <p:cNvSpPr/>
          <p:nvPr/>
        </p:nvSpPr>
        <p:spPr>
          <a:xfrm>
            <a:off x="4602442" y="3105393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6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602442" y="3654272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6" name="Text 33"/>
          <p:cNvSpPr/>
          <p:nvPr/>
        </p:nvSpPr>
        <p:spPr>
          <a:xfrm>
            <a:off x="4602442" y="3422262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(EN/PL)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602442" y="3971140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8" name="Text 35"/>
          <p:cNvSpPr/>
          <p:nvPr/>
        </p:nvSpPr>
        <p:spPr>
          <a:xfrm>
            <a:off x="4602442" y="3739130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maps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602442" y="4288009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0" name="Text 37"/>
          <p:cNvSpPr/>
          <p:nvPr/>
        </p:nvSpPr>
        <p:spPr>
          <a:xfrm>
            <a:off x="4602442" y="4055999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libs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602442" y="4604877"/>
            <a:ext cx="3030276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2" name="Text 39"/>
          <p:cNvSpPr/>
          <p:nvPr/>
        </p:nvSpPr>
        <p:spPr>
          <a:xfrm>
            <a:off x="4602442" y="4372868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602442" y="4689737"/>
            <a:ext cx="312118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Prettier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051736" y="1690823"/>
            <a:ext cx="3530744" cy="3813865"/>
          </a:xfrm>
          <a:prstGeom prst="roundRect">
            <a:avLst>
              <a:gd name="adj" fmla="val 54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5" name="Shape 42"/>
          <p:cNvSpPr/>
          <p:nvPr/>
        </p:nvSpPr>
        <p:spPr>
          <a:xfrm>
            <a:off x="8051736" y="1690823"/>
            <a:ext cx="43295" cy="3813865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6" name="Text 43"/>
          <p:cNvSpPr/>
          <p:nvPr/>
        </p:nvSpPr>
        <p:spPr>
          <a:xfrm>
            <a:off x="8323551" y="1919342"/>
            <a:ext cx="3121324" cy="1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3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8323551" y="2113224"/>
            <a:ext cx="3121324" cy="138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· ops · ssl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323551" y="2703666"/>
            <a:ext cx="3030411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9" name="Text 46"/>
          <p:cNvSpPr/>
          <p:nvPr/>
        </p:nvSpPr>
        <p:spPr>
          <a:xfrm>
            <a:off x="8323551" y="2471656"/>
            <a:ext cx="312132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</a:t>
            </a: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Droplet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323551" y="3020534"/>
            <a:ext cx="3030411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1" name="Text 48"/>
          <p:cNvSpPr/>
          <p:nvPr/>
        </p:nvSpPr>
        <p:spPr>
          <a:xfrm>
            <a:off x="8323551" y="2788525"/>
            <a:ext cx="312132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LTS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323551" y="3337403"/>
            <a:ext cx="3030411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3" name="Text 50"/>
          <p:cNvSpPr/>
          <p:nvPr/>
        </p:nvSpPr>
        <p:spPr>
          <a:xfrm>
            <a:off x="8323551" y="3105393"/>
            <a:ext cx="312132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323551" y="3654272"/>
            <a:ext cx="3030411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5" name="Text 52"/>
          <p:cNvSpPr/>
          <p:nvPr/>
        </p:nvSpPr>
        <p:spPr>
          <a:xfrm>
            <a:off x="8323551" y="3422262"/>
            <a:ext cx="312132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process manager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8323551" y="3971140"/>
            <a:ext cx="3030411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7" name="Text 54"/>
          <p:cNvSpPr/>
          <p:nvPr/>
        </p:nvSpPr>
        <p:spPr>
          <a:xfrm>
            <a:off x="8323551" y="3739130"/>
            <a:ext cx="312132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SSL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8323551" y="4288009"/>
            <a:ext cx="3030411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9" name="Text 56"/>
          <p:cNvSpPr/>
          <p:nvPr/>
        </p:nvSpPr>
        <p:spPr>
          <a:xfrm>
            <a:off x="8323551" y="4055999"/>
            <a:ext cx="312132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version control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323551" y="4604877"/>
            <a:ext cx="3030411" cy="4571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1" name="Text 58"/>
          <p:cNvSpPr/>
          <p:nvPr/>
        </p:nvSpPr>
        <p:spPr>
          <a:xfrm>
            <a:off x="8323551" y="4372868"/>
            <a:ext cx="312132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Mailtrap SMTP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8323551" y="4689737"/>
            <a:ext cx="3121324" cy="15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port 443</a:t>
            </a:r>
            <a:endParaRPr lang="en-US" sz="1000" dirty="0"/>
          </a:p>
        </p:txBody>
      </p:sp>
      <p:pic>
        <p:nvPicPr>
          <p:cNvPr id="63" name="Image 0" descr="preencoded.png">
            <a:extLst>
              <a:ext uri="{FF2B5EF4-FFF2-40B4-BE49-F238E27FC236}">
                <a16:creationId xmlns:a16="http://schemas.microsoft.com/office/drawing/2014/main" id="{6735F076-7033-D3CA-945E-6D77196A46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737" y="-390245"/>
            <a:ext cx="1857636" cy="1857636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76A29994-B672-0368-4CFF-2989BBFEA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879" y="215389"/>
            <a:ext cx="1680802" cy="9252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22327F-7326-BF3C-637B-3803796D761B}"/>
              </a:ext>
            </a:extLst>
          </p:cNvPr>
          <p:cNvSpPr txBox="1"/>
          <p:nvPr/>
        </p:nvSpPr>
        <p:spPr>
          <a:xfrm>
            <a:off x="10905703" y="6489227"/>
            <a:ext cx="9174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www.vizja.pl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222046" y="6329795"/>
            <a:ext cx="436635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09519" y="609519"/>
            <a:ext cx="11302150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9519" y="870915"/>
            <a:ext cx="11302150" cy="45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3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609519" y="1690823"/>
            <a:ext cx="2486106" cy="1905000"/>
          </a:xfrm>
          <a:prstGeom prst="roundRect">
            <a:avLst>
              <a:gd name="adj" fmla="val 1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Text 4"/>
          <p:cNvSpPr/>
          <p:nvPr/>
        </p:nvSpPr>
        <p:spPr>
          <a:xfrm>
            <a:off x="800019" y="2323207"/>
            <a:ext cx="218130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800019" y="2529266"/>
            <a:ext cx="2181306" cy="23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0019" y="2814881"/>
            <a:ext cx="2181306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057525" y="1690823"/>
            <a:ext cx="419046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3438471" y="1690823"/>
            <a:ext cx="2486106" cy="1905000"/>
          </a:xfrm>
          <a:prstGeom prst="roundRect">
            <a:avLst>
              <a:gd name="adj" fmla="val 1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2" name="Text 9"/>
          <p:cNvSpPr/>
          <p:nvPr/>
        </p:nvSpPr>
        <p:spPr>
          <a:xfrm>
            <a:off x="3628971" y="2323207"/>
            <a:ext cx="218130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628971" y="2529266"/>
            <a:ext cx="2181306" cy="23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/ HTTPS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628971" y="2814881"/>
            <a:ext cx="2181306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86477" y="1690823"/>
            <a:ext cx="419046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267423" y="1690823"/>
            <a:ext cx="2486106" cy="1905000"/>
          </a:xfrm>
          <a:prstGeom prst="roundRect">
            <a:avLst>
              <a:gd name="adj" fmla="val 1000"/>
            </a:avLst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7" name="Text 14"/>
          <p:cNvSpPr/>
          <p:nvPr/>
        </p:nvSpPr>
        <p:spPr>
          <a:xfrm>
            <a:off x="6457923" y="2323207"/>
            <a:ext cx="218130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6457923" y="2529266"/>
            <a:ext cx="2181306" cy="23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57923" y="2814881"/>
            <a:ext cx="2181306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715429" y="1690823"/>
            <a:ext cx="419046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9096374" y="1690823"/>
            <a:ext cx="2486106" cy="1905000"/>
          </a:xfrm>
          <a:prstGeom prst="roundRect">
            <a:avLst>
              <a:gd name="adj" fmla="val 1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2" name="Text 19"/>
          <p:cNvSpPr/>
          <p:nvPr/>
        </p:nvSpPr>
        <p:spPr>
          <a:xfrm>
            <a:off x="9286874" y="2323207"/>
            <a:ext cx="218130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9286874" y="2529266"/>
            <a:ext cx="2181306" cy="23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286874" y="2814881"/>
            <a:ext cx="2181306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09519" y="3824342"/>
            <a:ext cx="1130215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35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825" dirty="0"/>
          </a:p>
        </p:txBody>
      </p:sp>
      <p:sp>
        <p:nvSpPr>
          <p:cNvPr id="26" name="Shape 23"/>
          <p:cNvSpPr/>
          <p:nvPr/>
        </p:nvSpPr>
        <p:spPr>
          <a:xfrm>
            <a:off x="609519" y="4068420"/>
            <a:ext cx="2643188" cy="589495"/>
          </a:xfrm>
          <a:prstGeom prst="roundRect">
            <a:avLst>
              <a:gd name="adj" fmla="val 323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7" name="Shape 24"/>
          <p:cNvSpPr/>
          <p:nvPr/>
        </p:nvSpPr>
        <p:spPr>
          <a:xfrm>
            <a:off x="609519" y="4068420"/>
            <a:ext cx="34636" cy="589495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8" name="Text 25"/>
          <p:cNvSpPr/>
          <p:nvPr/>
        </p:nvSpPr>
        <p:spPr>
          <a:xfrm>
            <a:off x="796501" y="4201688"/>
            <a:ext cx="2380059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96501" y="4394759"/>
            <a:ext cx="2380059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3385975" y="4068420"/>
            <a:ext cx="2643323" cy="589495"/>
          </a:xfrm>
          <a:prstGeom prst="roundRect">
            <a:avLst>
              <a:gd name="adj" fmla="val 323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1" name="Shape 28"/>
          <p:cNvSpPr/>
          <p:nvPr/>
        </p:nvSpPr>
        <p:spPr>
          <a:xfrm>
            <a:off x="3385975" y="4068420"/>
            <a:ext cx="34636" cy="589495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2" name="Text 29"/>
          <p:cNvSpPr/>
          <p:nvPr/>
        </p:nvSpPr>
        <p:spPr>
          <a:xfrm>
            <a:off x="3572957" y="4201688"/>
            <a:ext cx="238019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572957" y="4394759"/>
            <a:ext cx="2380195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25" dirty="0"/>
          </a:p>
        </p:txBody>
      </p:sp>
      <p:sp>
        <p:nvSpPr>
          <p:cNvPr id="34" name="Shape 31"/>
          <p:cNvSpPr/>
          <p:nvPr/>
        </p:nvSpPr>
        <p:spPr>
          <a:xfrm>
            <a:off x="6162566" y="4068420"/>
            <a:ext cx="2643323" cy="589495"/>
          </a:xfrm>
          <a:prstGeom prst="roundRect">
            <a:avLst>
              <a:gd name="adj" fmla="val 323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5" name="Shape 32"/>
          <p:cNvSpPr/>
          <p:nvPr/>
        </p:nvSpPr>
        <p:spPr>
          <a:xfrm>
            <a:off x="6162566" y="4068420"/>
            <a:ext cx="34636" cy="589495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6" name="Text 33"/>
          <p:cNvSpPr/>
          <p:nvPr/>
        </p:nvSpPr>
        <p:spPr>
          <a:xfrm>
            <a:off x="6349549" y="4201688"/>
            <a:ext cx="238019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349549" y="4394759"/>
            <a:ext cx="2380195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825" dirty="0"/>
          </a:p>
        </p:txBody>
      </p:sp>
      <p:sp>
        <p:nvSpPr>
          <p:cNvPr id="38" name="Shape 35"/>
          <p:cNvSpPr/>
          <p:nvPr/>
        </p:nvSpPr>
        <p:spPr>
          <a:xfrm>
            <a:off x="8939158" y="4068420"/>
            <a:ext cx="2643323" cy="589495"/>
          </a:xfrm>
          <a:prstGeom prst="roundRect">
            <a:avLst>
              <a:gd name="adj" fmla="val 323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9" name="Shape 36"/>
          <p:cNvSpPr/>
          <p:nvPr/>
        </p:nvSpPr>
        <p:spPr>
          <a:xfrm>
            <a:off x="8939158" y="4068420"/>
            <a:ext cx="34636" cy="589495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0" name="Text 37"/>
          <p:cNvSpPr/>
          <p:nvPr/>
        </p:nvSpPr>
        <p:spPr>
          <a:xfrm>
            <a:off x="9126140" y="4201688"/>
            <a:ext cx="238019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Mailtrap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9126140" y="4394759"/>
            <a:ext cx="2380195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825" dirty="0"/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758EEDCF-4F05-0D04-237A-FB83BA1D7F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737" y="-390245"/>
            <a:ext cx="1857636" cy="1857636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E79567DB-7B97-B003-EA61-561305434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879" y="215389"/>
            <a:ext cx="1680802" cy="9252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B4E880-E85A-63C8-D234-AE8021E4C471}"/>
              </a:ext>
            </a:extLst>
          </p:cNvPr>
          <p:cNvSpPr txBox="1"/>
          <p:nvPr/>
        </p:nvSpPr>
        <p:spPr>
          <a:xfrm>
            <a:off x="10905703" y="6489227"/>
            <a:ext cx="9174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www.vizja.pl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222046" y="6329795"/>
            <a:ext cx="436635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09519" y="609519"/>
            <a:ext cx="11302150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9519" y="870915"/>
            <a:ext cx="11302150" cy="45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3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609519" y="1690823"/>
            <a:ext cx="2628981" cy="4095750"/>
          </a:xfrm>
          <a:prstGeom prst="roundRect">
            <a:avLst>
              <a:gd name="adj" fmla="val 725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7" name="Shape 4"/>
          <p:cNvSpPr/>
          <p:nvPr/>
        </p:nvSpPr>
        <p:spPr>
          <a:xfrm>
            <a:off x="609519" y="1690823"/>
            <a:ext cx="43295" cy="4095750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8" name="Shape 5"/>
          <p:cNvSpPr/>
          <p:nvPr/>
        </p:nvSpPr>
        <p:spPr>
          <a:xfrm>
            <a:off x="652814" y="2147860"/>
            <a:ext cx="258568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9" name="Shape 6"/>
          <p:cNvSpPr/>
          <p:nvPr/>
        </p:nvSpPr>
        <p:spPr>
          <a:xfrm>
            <a:off x="824237" y="1881187"/>
            <a:ext cx="76173" cy="76173"/>
          </a:xfrm>
          <a:prstGeom prst="roundRect">
            <a:avLst>
              <a:gd name="adj" fmla="val 25009"/>
            </a:avLst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0" name="Text 7"/>
          <p:cNvSpPr/>
          <p:nvPr/>
        </p:nvSpPr>
        <p:spPr>
          <a:xfrm>
            <a:off x="986053" y="1824092"/>
            <a:ext cx="7119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4237" y="2541037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2" name="Text 9"/>
          <p:cNvSpPr/>
          <p:nvPr/>
        </p:nvSpPr>
        <p:spPr>
          <a:xfrm>
            <a:off x="824237" y="2337386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email, full_name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4237" y="3167333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4" name="Text 11"/>
          <p:cNvSpPr/>
          <p:nvPr/>
        </p:nvSpPr>
        <p:spPr>
          <a:xfrm>
            <a:off x="824237" y="2963682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password_hash, phone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4237" y="3793629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6" name="Text 13"/>
          <p:cNvSpPr/>
          <p:nvPr/>
        </p:nvSpPr>
        <p:spPr>
          <a:xfrm>
            <a:off x="824237" y="3589978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role_id (FK)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4237" y="4419789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8" name="Text 15"/>
          <p:cNvSpPr/>
          <p:nvPr/>
        </p:nvSpPr>
        <p:spPr>
          <a:xfrm>
            <a:off x="824237" y="4216138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google_sub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24237" y="5046085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0" name="Text 17"/>
          <p:cNvSpPr/>
          <p:nvPr/>
        </p:nvSpPr>
        <p:spPr>
          <a:xfrm>
            <a:off x="824237" y="4842434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loyalty_points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4237" y="5468730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90846" y="1690823"/>
            <a:ext cx="2628981" cy="4095750"/>
          </a:xfrm>
          <a:prstGeom prst="roundRect">
            <a:avLst>
              <a:gd name="adj" fmla="val 725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3" name="Shape 20"/>
          <p:cNvSpPr/>
          <p:nvPr/>
        </p:nvSpPr>
        <p:spPr>
          <a:xfrm>
            <a:off x="3390846" y="1690823"/>
            <a:ext cx="43295" cy="4095750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4" name="Shape 21"/>
          <p:cNvSpPr/>
          <p:nvPr/>
        </p:nvSpPr>
        <p:spPr>
          <a:xfrm>
            <a:off x="3434141" y="2147860"/>
            <a:ext cx="258568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5" name="Shape 22"/>
          <p:cNvSpPr/>
          <p:nvPr/>
        </p:nvSpPr>
        <p:spPr>
          <a:xfrm>
            <a:off x="3605564" y="1881187"/>
            <a:ext cx="76173" cy="76173"/>
          </a:xfrm>
          <a:prstGeom prst="roundRect">
            <a:avLst>
              <a:gd name="adj" fmla="val 25009"/>
            </a:avLst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6" name="Text 23"/>
          <p:cNvSpPr/>
          <p:nvPr/>
        </p:nvSpPr>
        <p:spPr>
          <a:xfrm>
            <a:off x="3767380" y="1824092"/>
            <a:ext cx="9266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05564" y="2541037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8" name="Text 25"/>
          <p:cNvSpPr/>
          <p:nvPr/>
        </p:nvSpPr>
        <p:spPr>
          <a:xfrm>
            <a:off x="3605564" y="2337386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slug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05564" y="3167333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0" name="Text 27"/>
          <p:cNvSpPr/>
          <p:nvPr/>
        </p:nvSpPr>
        <p:spPr>
          <a:xfrm>
            <a:off x="3605564" y="2963682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owner_user_id (FK)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05564" y="3793629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2" name="Text 29"/>
          <p:cNvSpPr/>
          <p:nvPr/>
        </p:nvSpPr>
        <p:spPr>
          <a:xfrm>
            <a:off x="3605564" y="3589978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district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605564" y="4419789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4" name="Text 31"/>
          <p:cNvSpPr/>
          <p:nvPr/>
        </p:nvSpPr>
        <p:spPr>
          <a:xfrm>
            <a:off x="3605564" y="4216138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address, phone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605564" y="5046085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6" name="Text 33"/>
          <p:cNvSpPr/>
          <p:nvPr/>
        </p:nvSpPr>
        <p:spPr>
          <a:xfrm>
            <a:off x="3605564" y="4842434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605564" y="5468730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working_hours (rel)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172173" y="1690823"/>
            <a:ext cx="2628981" cy="4095750"/>
          </a:xfrm>
          <a:prstGeom prst="roundRect">
            <a:avLst>
              <a:gd name="adj" fmla="val 725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9" name="Shape 36"/>
          <p:cNvSpPr/>
          <p:nvPr/>
        </p:nvSpPr>
        <p:spPr>
          <a:xfrm>
            <a:off x="6172173" y="1690823"/>
            <a:ext cx="43295" cy="4095750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0" name="Shape 37"/>
          <p:cNvSpPr/>
          <p:nvPr/>
        </p:nvSpPr>
        <p:spPr>
          <a:xfrm>
            <a:off x="6215468" y="2147860"/>
            <a:ext cx="258568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1" name="Shape 38"/>
          <p:cNvSpPr/>
          <p:nvPr/>
        </p:nvSpPr>
        <p:spPr>
          <a:xfrm>
            <a:off x="6386891" y="1881187"/>
            <a:ext cx="76173" cy="76173"/>
          </a:xfrm>
          <a:prstGeom prst="roundRect">
            <a:avLst>
              <a:gd name="adj" fmla="val 25009"/>
            </a:avLst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2" name="Text 39"/>
          <p:cNvSpPr/>
          <p:nvPr/>
        </p:nvSpPr>
        <p:spPr>
          <a:xfrm>
            <a:off x="6548708" y="1824092"/>
            <a:ext cx="9699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386891" y="2541037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4" name="Text 41"/>
          <p:cNvSpPr/>
          <p:nvPr/>
        </p:nvSpPr>
        <p:spPr>
          <a:xfrm>
            <a:off x="6386891" y="2337386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</a:t>
            </a:r>
            <a:r>
              <a:rPr lang="en-US" sz="10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386891" y="3167333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6" name="Text 43"/>
          <p:cNvSpPr/>
          <p:nvPr/>
        </p:nvSpPr>
        <p:spPr>
          <a:xfrm>
            <a:off x="6386891" y="2963682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service_id (FK)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386891" y="3793629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8" name="Text 45"/>
          <p:cNvSpPr/>
          <p:nvPr/>
        </p:nvSpPr>
        <p:spPr>
          <a:xfrm>
            <a:off x="6386891" y="3589978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staff_id (FK)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386891" y="4419789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0" name="Text 47"/>
          <p:cNvSpPr/>
          <p:nvPr/>
        </p:nvSpPr>
        <p:spPr>
          <a:xfrm>
            <a:off x="6386891" y="4216138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starts_at, ends_at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386891" y="5046085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2" name="Text 49"/>
          <p:cNvSpPr/>
          <p:nvPr/>
        </p:nvSpPr>
        <p:spPr>
          <a:xfrm>
            <a:off x="6386891" y="4842434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(enum)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386891" y="5468730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promo_code, notes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953499" y="1690823"/>
            <a:ext cx="2628981" cy="4095750"/>
          </a:xfrm>
          <a:prstGeom prst="roundRect">
            <a:avLst>
              <a:gd name="adj" fmla="val 725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5" name="Shape 52"/>
          <p:cNvSpPr/>
          <p:nvPr/>
        </p:nvSpPr>
        <p:spPr>
          <a:xfrm>
            <a:off x="8953499" y="1690823"/>
            <a:ext cx="43295" cy="4095750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6" name="Shape 53"/>
          <p:cNvSpPr/>
          <p:nvPr/>
        </p:nvSpPr>
        <p:spPr>
          <a:xfrm>
            <a:off x="8996795" y="2147860"/>
            <a:ext cx="258568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7" name="Shape 54"/>
          <p:cNvSpPr/>
          <p:nvPr/>
        </p:nvSpPr>
        <p:spPr>
          <a:xfrm>
            <a:off x="9168218" y="1881187"/>
            <a:ext cx="76173" cy="76173"/>
          </a:xfrm>
          <a:prstGeom prst="roundRect">
            <a:avLst>
              <a:gd name="adj" fmla="val 25009"/>
            </a:avLst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58" name="Text 55"/>
          <p:cNvSpPr/>
          <p:nvPr/>
        </p:nvSpPr>
        <p:spPr>
          <a:xfrm>
            <a:off x="9330034" y="1824092"/>
            <a:ext cx="11947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9168218" y="2541037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0" name="Text 57"/>
          <p:cNvSpPr/>
          <p:nvPr/>
        </p:nvSpPr>
        <p:spPr>
          <a:xfrm>
            <a:off x="9168218" y="2337386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description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9168218" y="3167333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2" name="Text 59"/>
          <p:cNvSpPr/>
          <p:nvPr/>
        </p:nvSpPr>
        <p:spPr>
          <a:xfrm>
            <a:off x="9168218" y="2963682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company_id (FK)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168218" y="3793629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4" name="Text 61"/>
          <p:cNvSpPr/>
          <p:nvPr/>
        </p:nvSpPr>
        <p:spPr>
          <a:xfrm>
            <a:off x="9168218" y="3589978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price_cents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168218" y="4419789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6" name="Text 63"/>
          <p:cNvSpPr/>
          <p:nvPr/>
        </p:nvSpPr>
        <p:spPr>
          <a:xfrm>
            <a:off x="9168218" y="4216138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duration_minutes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9168218" y="5046085"/>
            <a:ext cx="22428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68" name="Text 65"/>
          <p:cNvSpPr/>
          <p:nvPr/>
        </p:nvSpPr>
        <p:spPr>
          <a:xfrm>
            <a:off x="9168218" y="4842434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category_slug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9168218" y="5468730"/>
            <a:ext cx="2319040" cy="17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image_url</a:t>
            </a:r>
            <a:endParaRPr lang="en-US" sz="1000" dirty="0"/>
          </a:p>
        </p:txBody>
      </p:sp>
      <p:pic>
        <p:nvPicPr>
          <p:cNvPr id="70" name="Image 0" descr="preencoded.png">
            <a:extLst>
              <a:ext uri="{FF2B5EF4-FFF2-40B4-BE49-F238E27FC236}">
                <a16:creationId xmlns:a16="http://schemas.microsoft.com/office/drawing/2014/main" id="{367B14AA-2BF3-7F24-8DC2-A16A7D301C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737" y="-390245"/>
            <a:ext cx="1857636" cy="1857636"/>
          </a:xfrm>
          <a:prstGeom prst="rect">
            <a:avLst/>
          </a:prstGeom>
        </p:spPr>
      </p:pic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61D0320F-5EFB-42AB-FD43-92D393C95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879" y="215389"/>
            <a:ext cx="1680802" cy="9252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34D875-4505-0880-BA08-E5D2E651F6ED}"/>
              </a:ext>
            </a:extLst>
          </p:cNvPr>
          <p:cNvSpPr txBox="1"/>
          <p:nvPr/>
        </p:nvSpPr>
        <p:spPr>
          <a:xfrm>
            <a:off x="10905703" y="6489227"/>
            <a:ext cx="9174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www.vizja.pl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222046" y="6329795"/>
            <a:ext cx="436635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09519" y="609519"/>
            <a:ext cx="11302150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9519" y="870915"/>
            <a:ext cx="11302150" cy="45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3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609519" y="1690824"/>
            <a:ext cx="3556045" cy="1912708"/>
          </a:xfrm>
          <a:prstGeom prst="roundRect">
            <a:avLst>
              <a:gd name="adj" fmla="val 851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Shape 4"/>
          <p:cNvSpPr/>
          <p:nvPr/>
        </p:nvSpPr>
        <p:spPr>
          <a:xfrm>
            <a:off x="609519" y="1690824"/>
            <a:ext cx="43295" cy="191270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5"/>
          <p:cNvSpPr/>
          <p:nvPr/>
        </p:nvSpPr>
        <p:spPr>
          <a:xfrm>
            <a:off x="862256" y="1900266"/>
            <a:ext cx="3186682" cy="16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b="1" kern="0" spc="1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2256" y="2146913"/>
            <a:ext cx="3186682" cy="781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available slots in real time against staff schedules. Detects conflicts before insert. Applies promo codes &amp; loyalty discounts at checkout.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17910" y="1690824"/>
            <a:ext cx="3556045" cy="1912708"/>
          </a:xfrm>
          <a:prstGeom prst="roundRect">
            <a:avLst>
              <a:gd name="adj" fmla="val 85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1" name="Shape 8"/>
          <p:cNvSpPr/>
          <p:nvPr/>
        </p:nvSpPr>
        <p:spPr>
          <a:xfrm>
            <a:off x="4317910" y="1690824"/>
            <a:ext cx="43295" cy="19127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2" name="Text 9"/>
          <p:cNvSpPr/>
          <p:nvPr/>
        </p:nvSpPr>
        <p:spPr>
          <a:xfrm>
            <a:off x="4570647" y="1900266"/>
            <a:ext cx="3186682" cy="16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b="1" kern="0" spc="1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CMS Panel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0647" y="2146913"/>
            <a:ext cx="3186682" cy="781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owners edit homepage, theme, FAQ and banners via visual interface. No code required. Changes go live in under 5 seconds.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26301" y="1690824"/>
            <a:ext cx="3556180" cy="1912708"/>
          </a:xfrm>
          <a:prstGeom prst="roundRect">
            <a:avLst>
              <a:gd name="adj" fmla="val 85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5" name="Shape 12"/>
          <p:cNvSpPr/>
          <p:nvPr/>
        </p:nvSpPr>
        <p:spPr>
          <a:xfrm>
            <a:off x="8026301" y="1690824"/>
            <a:ext cx="43295" cy="19127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6" name="Text 13"/>
          <p:cNvSpPr/>
          <p:nvPr/>
        </p:nvSpPr>
        <p:spPr>
          <a:xfrm>
            <a:off x="8279038" y="1900266"/>
            <a:ext cx="3186821" cy="16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b="1" kern="0" spc="1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79038" y="2146913"/>
            <a:ext cx="3186821" cy="540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sign in with Google in one click. Backend verifies id_token, creates/links account, issues signed JWT.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9519" y="3755878"/>
            <a:ext cx="3556045" cy="1912708"/>
          </a:xfrm>
          <a:prstGeom prst="roundRect">
            <a:avLst>
              <a:gd name="adj" fmla="val 851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9" name="Shape 16"/>
          <p:cNvSpPr/>
          <p:nvPr/>
        </p:nvSpPr>
        <p:spPr>
          <a:xfrm>
            <a:off x="609519" y="3755878"/>
            <a:ext cx="43295" cy="19127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0" name="Text 17"/>
          <p:cNvSpPr/>
          <p:nvPr/>
        </p:nvSpPr>
        <p:spPr>
          <a:xfrm>
            <a:off x="862256" y="3965319"/>
            <a:ext cx="3186682" cy="16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b="1" kern="0" spc="1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PL i18next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62256" y="4211967"/>
            <a:ext cx="3186682" cy="72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UI strings switch between English and Polish instantly. Language stored in localStorage. Browser preference auto-detected on first visit.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17910" y="3755878"/>
            <a:ext cx="3556045" cy="1912708"/>
          </a:xfrm>
          <a:prstGeom prst="roundRect">
            <a:avLst>
              <a:gd name="adj" fmla="val 851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3" name="Shape 20"/>
          <p:cNvSpPr/>
          <p:nvPr/>
        </p:nvSpPr>
        <p:spPr>
          <a:xfrm>
            <a:off x="4317910" y="3755878"/>
            <a:ext cx="43295" cy="191270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4" name="Text 21"/>
          <p:cNvSpPr/>
          <p:nvPr/>
        </p:nvSpPr>
        <p:spPr>
          <a:xfrm>
            <a:off x="4570647" y="3965319"/>
            <a:ext cx="3186682" cy="16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b="1" kern="0" spc="1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Pipeline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0647" y="4211967"/>
            <a:ext cx="3186682" cy="72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HTML emails sent via Nodemailer on registration, booking creation and status change. Template renders inline CSS for Gmail/Outlook compatibility.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026301" y="3755878"/>
            <a:ext cx="3556180" cy="1912708"/>
          </a:xfrm>
          <a:prstGeom prst="roundRect">
            <a:avLst>
              <a:gd name="adj" fmla="val 85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7" name="Shape 24"/>
          <p:cNvSpPr/>
          <p:nvPr/>
        </p:nvSpPr>
        <p:spPr>
          <a:xfrm>
            <a:off x="8026301" y="3755878"/>
            <a:ext cx="43295" cy="19127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8" name="Text 25"/>
          <p:cNvSpPr/>
          <p:nvPr/>
        </p:nvSpPr>
        <p:spPr>
          <a:xfrm>
            <a:off x="8279038" y="3965319"/>
            <a:ext cx="3186821" cy="16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b="1" kern="0" spc="1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Payments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279038" y="4211967"/>
            <a:ext cx="3186821" cy="72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loyalty points per completed visit. 1 point = 1% discount, capped at 20%. Stripe gift cards via webhook: paid &gt; pending &gt; confirmed by salon owner.</a:t>
            </a:r>
            <a:endParaRPr lang="en-US" sz="1000" dirty="0"/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838EF8E5-7833-9870-3F39-9F640EAF34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737" y="-390245"/>
            <a:ext cx="1857636" cy="1857636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6177E39-2A0A-229D-97DF-0B196D407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879" y="215389"/>
            <a:ext cx="1680802" cy="9252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521F4-7DDD-2EB2-EC23-A9AC2F263D26}"/>
              </a:ext>
            </a:extLst>
          </p:cNvPr>
          <p:cNvSpPr txBox="1"/>
          <p:nvPr/>
        </p:nvSpPr>
        <p:spPr>
          <a:xfrm>
            <a:off x="10905703" y="6489227"/>
            <a:ext cx="9174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www.vizja.pl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Title"/>
          <p:cNvSpPr/>
          <p:nvPr/>
        </p:nvSpPr>
        <p:spPr>
          <a:xfrm>
            <a:off x="609519" y="870915"/>
            <a:ext cx="11302150" cy="45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150" b="1" kern="0" spc="-37" dirty="0">
                <a:solidFill>
                  <a:srgbClr val="1A1A1A"/>
                </a:solidFill>
                <a:latin typeface="Calibri" pitchFamily="34" charset="0"/>
              </a:rPr>
              <a:t>Application Screenshots</a:t>
            </a:r>
          </a:p>
        </p:txBody>
      </p:sp>
      <p:sp>
        <p:nvSpPr>
          <p:cNvPr id="22" name="Text S2"/>
          <p:cNvSpPr/>
          <p:nvPr/>
        </p:nvSpPr>
        <p:spPr>
          <a:xfrm>
            <a:off x="4329975" y="1680000"/>
            <a:ext cx="3480000" cy="23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buNone/>
            </a:pPr>
            <a:endParaRPr lang="en-US" sz="850" dirty="0">
              <a:solidFill>
                <a:srgbClr val="555555"/>
              </a:solidFill>
              <a:latin typeface="Calibri" pitchFamily="34" charset="0"/>
            </a:endParaRPr>
          </a:p>
        </p:txBody>
      </p:sp>
      <p:sp>
        <p:nvSpPr>
          <p:cNvPr id="40" name="Text Hint"/>
          <p:cNvSpPr/>
          <p:nvPr/>
        </p:nvSpPr>
        <p:spPr>
          <a:xfrm>
            <a:off x="409494" y="4220000"/>
            <a:ext cx="11302150" cy="22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>
              <a:buNone/>
            </a:pPr>
            <a:endParaRPr lang="en-US" sz="850" i="1" dirty="0">
              <a:solidFill>
                <a:srgbClr val="AAAAAA"/>
              </a:solidFill>
              <a:latin typeface="Calibri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F3D92B-6141-0B94-9C73-F0D5DE8E6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4" y="1599999"/>
            <a:ext cx="3242541" cy="22311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C69316-0F8E-E60A-657B-DA6536F0E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623" y="1599999"/>
            <a:ext cx="3253368" cy="2231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DDF6C6F-7B08-1D16-F0A5-919163D07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653" y="1600000"/>
            <a:ext cx="3185904" cy="2231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78529DF-CE88-5240-1CC1-2BC12196D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158" y="4102198"/>
            <a:ext cx="3248367" cy="2284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9861954-1D9D-99EB-771E-45948E45E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0623" y="4102198"/>
            <a:ext cx="3248367" cy="2284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81AE2AF-8926-F56F-559B-F15EB34F9C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2421" y="4102198"/>
            <a:ext cx="3248367" cy="2284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328C82A8-A14C-1D41-EACD-314A234A2D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7879" y="215389"/>
            <a:ext cx="1680802" cy="92526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4703F6F-20F1-D483-C029-860899DFB2D4}"/>
              </a:ext>
            </a:extLst>
          </p:cNvPr>
          <p:cNvSpPr txBox="1"/>
          <p:nvPr/>
        </p:nvSpPr>
        <p:spPr>
          <a:xfrm>
            <a:off x="10905703" y="6489227"/>
            <a:ext cx="9174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www.vizja.pl</a:t>
            </a:r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F24AD64F-75D0-E3E8-629C-0D04C2540FA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19737" y="-390245"/>
            <a:ext cx="1857636" cy="18576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222046" y="6329795"/>
            <a:ext cx="436635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09519" y="609519"/>
            <a:ext cx="11302150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9519" y="870915"/>
            <a:ext cx="11302150" cy="45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3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609519" y="2764820"/>
            <a:ext cx="9077405" cy="417260"/>
          </a:xfrm>
          <a:prstGeom prst="roundRect">
            <a:avLst>
              <a:gd name="adj" fmla="val 4565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Shape 4"/>
          <p:cNvSpPr/>
          <p:nvPr/>
        </p:nvSpPr>
        <p:spPr>
          <a:xfrm>
            <a:off x="609519" y="2764820"/>
            <a:ext cx="43295" cy="417260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Shape 5"/>
          <p:cNvSpPr/>
          <p:nvPr/>
        </p:nvSpPr>
        <p:spPr>
          <a:xfrm>
            <a:off x="652814" y="2795127"/>
            <a:ext cx="560270" cy="356646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9" name="Text 6"/>
          <p:cNvSpPr/>
          <p:nvPr/>
        </p:nvSpPr>
        <p:spPr>
          <a:xfrm>
            <a:off x="805214" y="2899902"/>
            <a:ext cx="331670" cy="18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0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84534" y="2869595"/>
            <a:ext cx="1872366" cy="245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https://bloomtime.page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9519" y="3448753"/>
            <a:ext cx="2087923" cy="1216738"/>
          </a:xfrm>
          <a:prstGeom prst="roundRect">
            <a:avLst>
              <a:gd name="adj" fmla="val 156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2" name="Shape 9"/>
          <p:cNvSpPr/>
          <p:nvPr/>
        </p:nvSpPr>
        <p:spPr>
          <a:xfrm>
            <a:off x="609519" y="3448753"/>
            <a:ext cx="43295" cy="121673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3" name="Text 10"/>
          <p:cNvSpPr/>
          <p:nvPr/>
        </p:nvSpPr>
        <p:spPr>
          <a:xfrm>
            <a:off x="824237" y="3715426"/>
            <a:ext cx="1777982" cy="483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kern="0" spc="-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uk-UA" sz="3900" b="1" kern="0" spc="-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824237" y="4256349"/>
            <a:ext cx="1777982" cy="180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6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salons onboarded</a:t>
            </a:r>
            <a:endParaRPr lang="en-US" sz="863" dirty="0"/>
          </a:p>
        </p:txBody>
      </p:sp>
      <p:sp>
        <p:nvSpPr>
          <p:cNvPr id="15" name="Shape 12"/>
          <p:cNvSpPr/>
          <p:nvPr/>
        </p:nvSpPr>
        <p:spPr>
          <a:xfrm>
            <a:off x="2830711" y="3448753"/>
            <a:ext cx="2087923" cy="1216738"/>
          </a:xfrm>
          <a:prstGeom prst="roundRect">
            <a:avLst>
              <a:gd name="adj" fmla="val 156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6" name="Shape 13"/>
          <p:cNvSpPr/>
          <p:nvPr/>
        </p:nvSpPr>
        <p:spPr>
          <a:xfrm>
            <a:off x="2830711" y="3448753"/>
            <a:ext cx="43295" cy="121673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7" name="Text 14"/>
          <p:cNvSpPr/>
          <p:nvPr/>
        </p:nvSpPr>
        <p:spPr>
          <a:xfrm>
            <a:off x="3045429" y="3715426"/>
            <a:ext cx="1777982" cy="483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kern="0" spc="-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</a:t>
            </a:r>
            <a:endParaRPr lang="en-US" sz="3900" dirty="0"/>
          </a:p>
        </p:txBody>
      </p:sp>
      <p:sp>
        <p:nvSpPr>
          <p:cNvPr id="18" name="Text 15"/>
          <p:cNvSpPr/>
          <p:nvPr/>
        </p:nvSpPr>
        <p:spPr>
          <a:xfrm>
            <a:off x="3045429" y="4256349"/>
            <a:ext cx="1777982" cy="180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6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863" dirty="0"/>
          </a:p>
        </p:txBody>
      </p:sp>
      <p:sp>
        <p:nvSpPr>
          <p:cNvPr id="19" name="Shape 16"/>
          <p:cNvSpPr/>
          <p:nvPr/>
        </p:nvSpPr>
        <p:spPr>
          <a:xfrm>
            <a:off x="5051903" y="3448753"/>
            <a:ext cx="2088058" cy="1216738"/>
          </a:xfrm>
          <a:prstGeom prst="roundRect">
            <a:avLst>
              <a:gd name="adj" fmla="val 156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0" name="Shape 17"/>
          <p:cNvSpPr/>
          <p:nvPr/>
        </p:nvSpPr>
        <p:spPr>
          <a:xfrm>
            <a:off x="5051903" y="3448753"/>
            <a:ext cx="43295" cy="121673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1" name="Text 18"/>
          <p:cNvSpPr/>
          <p:nvPr/>
        </p:nvSpPr>
        <p:spPr>
          <a:xfrm>
            <a:off x="5266621" y="3715426"/>
            <a:ext cx="1778117" cy="483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kern="0" spc="-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900" dirty="0"/>
          </a:p>
        </p:txBody>
      </p:sp>
      <p:sp>
        <p:nvSpPr>
          <p:cNvPr id="22" name="Text 19"/>
          <p:cNvSpPr/>
          <p:nvPr/>
        </p:nvSpPr>
        <p:spPr>
          <a:xfrm>
            <a:off x="5266621" y="4256349"/>
            <a:ext cx="1778117" cy="180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6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</a:t>
            </a:r>
            <a:endParaRPr lang="en-US" sz="863" dirty="0"/>
          </a:p>
        </p:txBody>
      </p:sp>
      <p:sp>
        <p:nvSpPr>
          <p:cNvPr id="23" name="Shape 20"/>
          <p:cNvSpPr/>
          <p:nvPr/>
        </p:nvSpPr>
        <p:spPr>
          <a:xfrm>
            <a:off x="7273230" y="3448753"/>
            <a:ext cx="2087923" cy="1216738"/>
          </a:xfrm>
          <a:prstGeom prst="roundRect">
            <a:avLst>
              <a:gd name="adj" fmla="val 156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4" name="Shape 21"/>
          <p:cNvSpPr/>
          <p:nvPr/>
        </p:nvSpPr>
        <p:spPr>
          <a:xfrm>
            <a:off x="7273230" y="3448753"/>
            <a:ext cx="43295" cy="121673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5" name="Text 22"/>
          <p:cNvSpPr/>
          <p:nvPr/>
        </p:nvSpPr>
        <p:spPr>
          <a:xfrm>
            <a:off x="7487949" y="3715426"/>
            <a:ext cx="1777982" cy="483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kern="0" spc="-75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900" dirty="0"/>
          </a:p>
        </p:txBody>
      </p:sp>
      <p:sp>
        <p:nvSpPr>
          <p:cNvPr id="45" name="Text RestApiLabel"/>
          <p:cNvSpPr/>
          <p:nvPr/>
        </p:nvSpPr>
        <p:spPr>
          <a:xfrm>
            <a:off x="7487949" y="4256349"/>
            <a:ext cx="1777982" cy="180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6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modules</a:t>
            </a:r>
            <a:endParaRPr lang="en-US" sz="863" dirty="0"/>
          </a:p>
        </p:txBody>
      </p:sp>
      <p:sp>
        <p:nvSpPr>
          <p:cNvPr id="71" name="Shape ScreenshotBar"/>
          <p:cNvSpPr/>
          <p:nvPr/>
        </p:nvSpPr>
        <p:spPr>
          <a:xfrm>
            <a:off x="609519" y="1430000"/>
            <a:ext cx="43295" cy="1230000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ScreenshotLabel"/>
          <p:cNvSpPr/>
          <p:nvPr/>
        </p:nvSpPr>
        <p:spPr>
          <a:xfrm>
            <a:off x="700000" y="1480000"/>
            <a:ext cx="7500000" cy="11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>
            <a:normAutofit/>
          </a:bodyPr>
          <a:lstStyle/>
          <a:p>
            <a:pPr algn="ctr">
              <a:buNone/>
            </a:pPr>
            <a:endParaRPr lang="en-US" sz="900" i="1" dirty="0">
              <a:solidFill>
                <a:srgbClr val="888888"/>
              </a:solidFill>
              <a:latin typeface="Calibri" pitchFamily="34" charset="0"/>
            </a:endParaRPr>
          </a:p>
        </p:txBody>
      </p:sp>
      <p:sp>
        <p:nvSpPr>
          <p:cNvPr id="81" name="Text QRLabel"/>
          <p:cNvSpPr/>
          <p:nvPr/>
        </p:nvSpPr>
        <p:spPr>
          <a:xfrm>
            <a:off x="8470000" y="1460000"/>
            <a:ext cx="1290000" cy="117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>
              <a:buNone/>
            </a:pPr>
            <a:endParaRPr lang="en-US" sz="1800" dirty="0">
              <a:solidFill>
                <a:srgbClr val="BBBBBB"/>
              </a:solidFill>
              <a:latin typeface="Calibri" pitchFamily="34" charset="0"/>
            </a:endParaRPr>
          </a:p>
        </p:txBody>
      </p:sp>
      <p:sp>
        <p:nvSpPr>
          <p:cNvPr id="82" name="Text QRSub"/>
          <p:cNvSpPr/>
          <p:nvPr/>
        </p:nvSpPr>
        <p:spPr>
          <a:xfrm>
            <a:off x="8420000" y="2680000"/>
            <a:ext cx="1400000" cy="13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algn="ctr">
              <a:buNone/>
            </a:pPr>
            <a:endParaRPr lang="en-US" sz="700" i="1" dirty="0">
              <a:solidFill>
                <a:srgbClr val="AAAAAA"/>
              </a:solidFill>
              <a:latin typeface="Calibri" pitchFamily="34" charset="0"/>
            </a:endParaRPr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5466F658-82DF-3E90-625D-AC045147AE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737" y="-390245"/>
            <a:ext cx="1857636" cy="1857636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F4236759-1AD6-C890-B065-A60AACF0D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879" y="215389"/>
            <a:ext cx="1680802" cy="925262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778C1F9-740B-6013-AF77-69B9BB3B0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65" y="1429999"/>
            <a:ext cx="9017659" cy="122629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F2A4E53-8539-32D2-8F28-D9CD0E660B1F}"/>
              </a:ext>
            </a:extLst>
          </p:cNvPr>
          <p:cNvSpPr txBox="1"/>
          <p:nvPr/>
        </p:nvSpPr>
        <p:spPr>
          <a:xfrm>
            <a:off x="10905703" y="6489227"/>
            <a:ext cx="9174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www.vizja.pl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149932" y="6329795"/>
            <a:ext cx="508749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09519" y="609519"/>
            <a:ext cx="11302150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9519" y="870915"/>
            <a:ext cx="11302150" cy="45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3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609519" y="1690823"/>
            <a:ext cx="5726500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7" name="Shape 4"/>
          <p:cNvSpPr/>
          <p:nvPr/>
        </p:nvSpPr>
        <p:spPr>
          <a:xfrm>
            <a:off x="609519" y="1690823"/>
            <a:ext cx="34636" cy="3390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8" name="Text 5"/>
          <p:cNvSpPr/>
          <p:nvPr/>
        </p:nvSpPr>
        <p:spPr>
          <a:xfrm>
            <a:off x="815605" y="1786073"/>
            <a:ext cx="5558859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bloomtime.page</a:t>
            </a:r>
            <a:r>
              <a:rPr lang="en-US" sz="1000" dirty="0">
                <a:solidFill>
                  <a:srgbClr val="333333"/>
                </a:solidFill>
                <a:highlight>
                  <a:srgbClr val="F3F4F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: live, HTTPS, zero downtime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9519" y="2106053"/>
            <a:ext cx="5726500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0" name="Shape 7"/>
          <p:cNvSpPr/>
          <p:nvPr/>
        </p:nvSpPr>
        <p:spPr>
          <a:xfrm>
            <a:off x="609519" y="2106053"/>
            <a:ext cx="34636" cy="3390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1" name="Text 8"/>
          <p:cNvSpPr/>
          <p:nvPr/>
        </p:nvSpPr>
        <p:spPr>
          <a:xfrm>
            <a:off x="815605" y="2201303"/>
            <a:ext cx="5558859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salons + 70 users </a:t>
            </a:r>
            <a:r>
              <a:rPr lang="en-US" sz="1000" dirty="0">
                <a:solidFill>
                  <a:srgbClr val="333333"/>
                </a:solidFill>
                <a:highlight>
                  <a:srgbClr val="F3F4F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onboarded at launch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9519" y="2521284"/>
            <a:ext cx="5726500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3" name="Shape 10"/>
          <p:cNvSpPr/>
          <p:nvPr/>
        </p:nvSpPr>
        <p:spPr>
          <a:xfrm>
            <a:off x="609519" y="2521284"/>
            <a:ext cx="34636" cy="3390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4" name="Text 11"/>
          <p:cNvSpPr/>
          <p:nvPr/>
        </p:nvSpPr>
        <p:spPr>
          <a:xfrm>
            <a:off x="815605" y="2616534"/>
            <a:ext cx="5558859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engine: </a:t>
            </a:r>
            <a:r>
              <a:rPr lang="en-US" sz="1000" dirty="0">
                <a:solidFill>
                  <a:srgbClr val="333333"/>
                </a:solidFill>
                <a:highlight>
                  <a:srgbClr val="F3F4F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conflict detection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9519" y="2936514"/>
            <a:ext cx="5726500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6" name="Shape 13"/>
          <p:cNvSpPr/>
          <p:nvPr/>
        </p:nvSpPr>
        <p:spPr>
          <a:xfrm>
            <a:off x="609519" y="2936514"/>
            <a:ext cx="34636" cy="3390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7" name="Text 14"/>
          <p:cNvSpPr/>
          <p:nvPr/>
        </p:nvSpPr>
        <p:spPr>
          <a:xfrm>
            <a:off x="815605" y="3031764"/>
            <a:ext cx="5558859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OAuth: </a:t>
            </a:r>
            <a:r>
              <a:rPr lang="en-US" sz="1000" dirty="0">
                <a:solidFill>
                  <a:srgbClr val="333333"/>
                </a:solidFill>
                <a:highlight>
                  <a:srgbClr val="F3F4F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login in 1 click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9519" y="3351745"/>
            <a:ext cx="5726500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19" name="Shape 16"/>
          <p:cNvSpPr/>
          <p:nvPr/>
        </p:nvSpPr>
        <p:spPr>
          <a:xfrm>
            <a:off x="609519" y="3351745"/>
            <a:ext cx="34636" cy="3390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0" name="Text 17"/>
          <p:cNvSpPr/>
          <p:nvPr/>
        </p:nvSpPr>
        <p:spPr>
          <a:xfrm>
            <a:off x="815605" y="3446995"/>
            <a:ext cx="5558859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CMS: </a:t>
            </a:r>
            <a:r>
              <a:rPr lang="en-US" sz="1000" dirty="0">
                <a:solidFill>
                  <a:srgbClr val="333333"/>
                </a:solidFill>
                <a:highlight>
                  <a:srgbClr val="F3F4F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owners edit content live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9519" y="3766975"/>
            <a:ext cx="5726500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2" name="Shape 19"/>
          <p:cNvSpPr/>
          <p:nvPr/>
        </p:nvSpPr>
        <p:spPr>
          <a:xfrm>
            <a:off x="609519" y="3766975"/>
            <a:ext cx="34636" cy="3390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3" name="Text 20"/>
          <p:cNvSpPr/>
          <p:nvPr/>
        </p:nvSpPr>
        <p:spPr>
          <a:xfrm>
            <a:off x="815605" y="3862225"/>
            <a:ext cx="5558859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i18n: </a:t>
            </a:r>
            <a:r>
              <a:rPr lang="en-US" sz="1000" dirty="0">
                <a:solidFill>
                  <a:srgbClr val="333333"/>
                </a:solidFill>
                <a:highlight>
                  <a:srgbClr val="F3F4F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EN/PL switch with browser detection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9519" y="4182205"/>
            <a:ext cx="5726500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5" name="Shape 22"/>
          <p:cNvSpPr/>
          <p:nvPr/>
        </p:nvSpPr>
        <p:spPr>
          <a:xfrm>
            <a:off x="609519" y="4182205"/>
            <a:ext cx="34636" cy="3390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6" name="Text 23"/>
          <p:cNvSpPr/>
          <p:nvPr/>
        </p:nvSpPr>
        <p:spPr>
          <a:xfrm>
            <a:off x="815605" y="4277455"/>
            <a:ext cx="5558859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pipeline: </a:t>
            </a:r>
            <a:r>
              <a:rPr lang="en-US" sz="1000" dirty="0">
                <a:solidFill>
                  <a:srgbClr val="333333"/>
                </a:solidFill>
                <a:highlight>
                  <a:srgbClr val="F3F4F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HTML templates, 2s delivery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9519" y="4597436"/>
            <a:ext cx="5726500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8" name="Shape 25"/>
          <p:cNvSpPr/>
          <p:nvPr/>
        </p:nvSpPr>
        <p:spPr>
          <a:xfrm>
            <a:off x="609519" y="4597436"/>
            <a:ext cx="34636" cy="339058"/>
          </a:xfrm>
          <a:prstGeom prst="rect">
            <a:avLst/>
          </a:prstGeom>
          <a:solidFill>
            <a:srgbClr val="E63329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29" name="Text 26"/>
          <p:cNvSpPr/>
          <p:nvPr/>
        </p:nvSpPr>
        <p:spPr>
          <a:xfrm>
            <a:off x="815605" y="4692686"/>
            <a:ext cx="5558859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integration: </a:t>
            </a:r>
            <a:r>
              <a:rPr lang="en-US" sz="1000" dirty="0">
                <a:solidFill>
                  <a:srgbClr val="333333"/>
                </a:solidFill>
                <a:highlight>
                  <a:srgbClr val="F3F4F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gift cards + loyalty points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602692" y="1690823"/>
            <a:ext cx="5129043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35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602692" y="1858728"/>
            <a:ext cx="5129043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602692" y="2199815"/>
            <a:ext cx="4979654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3" name="Shape 30"/>
          <p:cNvSpPr/>
          <p:nvPr/>
        </p:nvSpPr>
        <p:spPr>
          <a:xfrm>
            <a:off x="6602692" y="2199815"/>
            <a:ext cx="34636" cy="33905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4" name="Text 31"/>
          <p:cNvSpPr/>
          <p:nvPr/>
        </p:nvSpPr>
        <p:spPr>
          <a:xfrm>
            <a:off x="6808778" y="2295065"/>
            <a:ext cx="4789607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app (iOS + Android)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602692" y="2615045"/>
            <a:ext cx="4979654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6" name="Shape 33"/>
          <p:cNvSpPr/>
          <p:nvPr/>
        </p:nvSpPr>
        <p:spPr>
          <a:xfrm>
            <a:off x="6602692" y="2615045"/>
            <a:ext cx="34636" cy="33905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7" name="Text 34"/>
          <p:cNvSpPr/>
          <p:nvPr/>
        </p:nvSpPr>
        <p:spPr>
          <a:xfrm>
            <a:off x="6808778" y="2710295"/>
            <a:ext cx="4789607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payment processing per booking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602692" y="3030276"/>
            <a:ext cx="4979654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39" name="Shape 36"/>
          <p:cNvSpPr/>
          <p:nvPr/>
        </p:nvSpPr>
        <p:spPr>
          <a:xfrm>
            <a:off x="6602692" y="3030276"/>
            <a:ext cx="34636" cy="33905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0" name="Text 37"/>
          <p:cNvSpPr/>
          <p:nvPr/>
        </p:nvSpPr>
        <p:spPr>
          <a:xfrm>
            <a:off x="6808778" y="3125526"/>
            <a:ext cx="4789607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recommendation engine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602692" y="3445506"/>
            <a:ext cx="4979654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2" name="Shape 39"/>
          <p:cNvSpPr/>
          <p:nvPr/>
        </p:nvSpPr>
        <p:spPr>
          <a:xfrm>
            <a:off x="6602692" y="3445506"/>
            <a:ext cx="34636" cy="33905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3" name="Text 40"/>
          <p:cNvSpPr/>
          <p:nvPr/>
        </p:nvSpPr>
        <p:spPr>
          <a:xfrm>
            <a:off x="6808778" y="3540756"/>
            <a:ext cx="4789607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via FCM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602692" y="3860737"/>
            <a:ext cx="4979654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5" name="Shape 42"/>
          <p:cNvSpPr/>
          <p:nvPr/>
        </p:nvSpPr>
        <p:spPr>
          <a:xfrm>
            <a:off x="6602692" y="3860737"/>
            <a:ext cx="34636" cy="33905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6" name="Text 43"/>
          <p:cNvSpPr/>
          <p:nvPr/>
        </p:nvSpPr>
        <p:spPr>
          <a:xfrm>
            <a:off x="6808778" y="3955987"/>
            <a:ext cx="4789607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rollout with geo-search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602692" y="4275967"/>
            <a:ext cx="4979654" cy="339058"/>
          </a:xfrm>
          <a:prstGeom prst="roundRect">
            <a:avLst>
              <a:gd name="adj" fmla="val 561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8" name="Shape 45"/>
          <p:cNvSpPr/>
          <p:nvPr/>
        </p:nvSpPr>
        <p:spPr>
          <a:xfrm>
            <a:off x="6602692" y="4275967"/>
            <a:ext cx="34636" cy="33905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uk-UA" sz="1000"/>
          </a:p>
        </p:txBody>
      </p:sp>
      <p:sp>
        <p:nvSpPr>
          <p:cNvPr id="49" name="Text 46"/>
          <p:cNvSpPr/>
          <p:nvPr/>
        </p:nvSpPr>
        <p:spPr>
          <a:xfrm>
            <a:off x="6808778" y="4371217"/>
            <a:ext cx="4789607" cy="1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/ Apple Calendar sync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609519" y="5265964"/>
            <a:ext cx="10972962" cy="439855"/>
          </a:xfrm>
          <a:prstGeom prst="roundRect">
            <a:avLst>
              <a:gd name="adj" fmla="val 4331"/>
            </a:avLst>
          </a:prstGeom>
          <a:solidFill>
            <a:srgbClr val="E6332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51" name="Text 48"/>
          <p:cNvSpPr/>
          <p:nvPr/>
        </p:nvSpPr>
        <p:spPr>
          <a:xfrm>
            <a:off x="780969" y="5399314"/>
            <a:ext cx="10959250" cy="211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BloomTime: </a:t>
            </a:r>
            <a:r>
              <a:rPr lang="en-US" sz="975" dirty="0">
                <a:solidFill>
                  <a:srgbClr val="FFFFFF"/>
                </a:solidFill>
                <a:highlight>
                  <a:srgbClr val="E63329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from academic project to live product with 26 onboarded salons, real users, and zero infrastructure costs beyond $6/month VPS.</a:t>
            </a:r>
            <a:endParaRPr lang="en-US" sz="975" dirty="0"/>
          </a:p>
        </p:txBody>
      </p:sp>
      <p:pic>
        <p:nvPicPr>
          <p:cNvPr id="52" name="Image 0" descr="preencoded.png">
            <a:extLst>
              <a:ext uri="{FF2B5EF4-FFF2-40B4-BE49-F238E27FC236}">
                <a16:creationId xmlns:a16="http://schemas.microsoft.com/office/drawing/2014/main" id="{DC77CAFA-44FB-1E76-E3D0-7E10F77B1C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737" y="-390245"/>
            <a:ext cx="1857636" cy="1857636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E64BC022-F437-DC06-9FAB-55DF15ECA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879" y="215389"/>
            <a:ext cx="1680802" cy="9252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393F49-30EE-833F-8303-2DFC92F8DD2A}"/>
              </a:ext>
            </a:extLst>
          </p:cNvPr>
          <p:cNvSpPr txBox="1"/>
          <p:nvPr/>
        </p:nvSpPr>
        <p:spPr>
          <a:xfrm>
            <a:off x="10905703" y="6489227"/>
            <a:ext cx="9174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www.vizja.pl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DF261A5-CCC8-5292-31D9-465F4A375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879" y="215389"/>
            <a:ext cx="1680802" cy="925262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16A90BF-D14B-B478-EB33-C7228853BA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737" y="-390245"/>
            <a:ext cx="1857636" cy="18576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27F11A-ED56-10C0-9B7D-7E99F72AEBE1}"/>
              </a:ext>
            </a:extLst>
          </p:cNvPr>
          <p:cNvSpPr txBox="1"/>
          <p:nvPr/>
        </p:nvSpPr>
        <p:spPr>
          <a:xfrm>
            <a:off x="2814368" y="3050239"/>
            <a:ext cx="6579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itchFamily="2" charset="77"/>
                <a:sym typeface="Wingdings" pitchFamily="2" charset="2"/>
              </a:rPr>
              <a:t>Thank you for attention </a:t>
            </a:r>
            <a:endParaRPr lang="uk-UA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52FFF-3174-F303-086D-9AA853397769}"/>
              </a:ext>
            </a:extLst>
          </p:cNvPr>
          <p:cNvSpPr txBox="1"/>
          <p:nvPr/>
        </p:nvSpPr>
        <p:spPr>
          <a:xfrm>
            <a:off x="10905703" y="6460652"/>
            <a:ext cx="9174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www.vizja.pl</a:t>
            </a:r>
          </a:p>
        </p:txBody>
      </p:sp>
    </p:spTree>
    <p:extLst>
      <p:ext uri="{BB962C8B-B14F-4D97-AF65-F5344CB8AC3E}">
        <p14:creationId xmlns:p14="http://schemas.microsoft.com/office/powerpoint/2010/main" val="3572191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1028</Words>
  <Application>Microsoft Office PowerPoint</Application>
  <PresentationFormat>Широкий екран</PresentationFormat>
  <Paragraphs>256</Paragraphs>
  <Slides>12</Slides>
  <Notes>10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6" baseType="lpstr">
      <vt:lpstr>Arial</vt:lpstr>
      <vt:lpstr>Calibri</vt:lpstr>
      <vt:lpstr>Montserrat ExtraBold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george butenko</cp:lastModifiedBy>
  <cp:revision>5</cp:revision>
  <dcterms:created xsi:type="dcterms:W3CDTF">2026-06-04T19:32:50Z</dcterms:created>
  <dcterms:modified xsi:type="dcterms:W3CDTF">2026-07-16T09:35:41Z</dcterms:modified>
</cp:coreProperties>
</file>